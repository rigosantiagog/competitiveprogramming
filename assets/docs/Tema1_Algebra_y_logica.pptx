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 la clase: el álgebra y la lógica son el idioma con el que se escriben los problemas de olimpiada.
Pregunta de apertura: "Pago 4 paletas a x pesos cada una y un refresco de 15 pesos. ¿Qué expresión describe lo que pago?" Respuesta: 4x + 15. Pide que escriban la expresión antes de calcular nada.
Recuerda el receso de 15 minutos a mitad de la clase.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Idea central: una variable es una caja con nombre que puede cambiar de un problema a otro.
Ejemplo distinto al de la diapositiva: y = 3x − 1.
- Si x = 6, y = 3 · 6 − 1 = 17.
- Si x = 0, y = −1.
- Si x = −2, y = −7.
Pide a los alumnos evaluar los tres casos en su cuaderno y después comparar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que cada operación tiene prioridad, y que los paréntesis cambian todo.
Ejemplo para practicar: 10 − 2 · 3 + 8 ÷ 4 = 10 − 6 + 2 = 6.
Versión con paréntesis: (10 − 2) · 3 + 8 ÷ 4 = 8 · 3 + 2 = 26.
Pregunta al grupo: ¿por qué las dos expresiones dan resultados distintos si solo cambian los paréntesis?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propiedades permiten calcular mentalmente. Muestra cómo la asociativa ahorra trabajo.
Ejemplo para practicar: 25 · 37 · 4 = (25 · 4) · 37 = 100 · 37 = 3700.
Otro ejemplo: 7 · (2 · 5) = (7 · 2) · 5 = 70.
Recuerda que la resta no es conmutativa: 8 − 3 es distinto de 3 − 8. Pregunta: ¿la resta cumple la asociativa? Haz la prueba con 10 − (5 − 2) y (10 − 5) − 2.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 en que el número de afuera multiplica a todos los términos de adentro.
Ejemplo para practicar: 5(2y − 3) = 10y − 15. Comprobación con y = 4: 5(8 − 3) = 25 y 40 − 15 = 25.
Error típico a mostrar: −2(x − 4) = −2x + 8, no −2x − 4. El signo negativo cambia el segundo término.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 la balanza para explicar que una ecuación se conserva si se hace lo mismo en ambos lados.
Ejemplo para practicar: 2x = 18. Dividir ambos lados entre 2 da x = 9.
Otro: x / 3 = 5. Multiplicar ambos lados por 3 da x = 15.
Pregunta: si sumo 4 a un lado y no al otro, ¿qué le pasa a la balanza?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Muestra el procedimiento completo y enfatiza la comprobación. Es la forma de evitar errores en el examen.
Ejemplo para practicar: 5x − 8 = 27.
Paso 1: sumar 8 a ambos lados: 5x = 35.
Paso 2: dividir entre 5: x = 7.
Comprobación: 5 · 7 − 8 = 27. ✔
Pide que un alumno pase al pizarrón a explicar el procedimiento en voz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diferencia más importante para quien empieza a programar.
En álgebra, a = a · 2 implicaría que a = 0. En C++, la misma línea es una instrucción: toma el valor actual de a, lo multiplica por 2 y lo guarda otra vez en a.
Ejemplo para practicar en C++:
int a = 3;   // a vale 3
a = a * 2;   // ahora a vale 6
a = a + 1;   // ahora a vale 7
Pregunta al grupo: ¿cuánto vale a al final? Respuesta: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proposición tiene valor de verdad: es verdadera o falsa. Una pregunta o una opinión no lo tiene.
Ejemplos para practicar:
- "2 + 2 = 5": es proposición, y es falsa.
- "¿Cuántos años tienes?": no es proposición.
- "Todo número par es divisible entre 4": es falsa. Contraejemplo: el 6.
Pide al grupo que busque un contraejemplo para cada afirmación falsa.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tablas de verdad se memorizan con sentido: Y necesita las dos, O basta con una, NO invierte.
Ejemplo para practicar: p = "el número es mayor que 10", q = "el número es par".
- Para 12: p es V, q es V. p Y q es V. p O q es V.
- Para 7: p es F, q es F. p Y q es F. p O q es F.
- Para 9: p es F, q es F; pero ¿qué pasa con NO p? Pide al grupo calcular NO p para 9 y para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que el condicional solo es falso en un caso: cuando la premisa se cumple y la conclusión falla.
Ejemplo para practicar: "Si un número es múltiplo de 4, entonces es par".
Esto es verdadero, porque no existe un múltiplo de 4 que sea impar.
Pregunta: ¿qué significaría un contraejemplo de esta afirmación? Respuesta: un múltiplo de 4 que sea impar, y no existe.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Refuerza que la negación del condicional es "p Y NO q", no la frase con "si no".
Ejemplo para practicar: "Si es lunes, entonces tengo clase." Negación: "Es lunes y no tengo clase."
De Morgan con otro ejemplo: NO (el cuaderno es rojo Y es grande) = "el cuaderno no es rojo O no es grande".
Pregunta: ¿cuál es la negación de "llueve o hace frío"? Respuesta: "no llueve y no hace frío".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 los errores como señales de que el alumno está aprendiendo, no como fallas.
Ejemplo para practicar: 8 − 3 + 2. Un error común es calcular 8 − (3 + 2) = 3. La respuesta correcta se obtiene de izquierda a derecha: 5 + 2 = 7.
Pide a los alumnos que escriban un error propio de la semana y lo corrijan en voz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Repasa las cuatro ideas: variables y expresiones, propiedades, ecuaciones y lógica.
Pregunta de repaso: ¿cuál es la negación de "si estudio, entonces no juego"? Respuesta: "estudio y juego".
Cierre: pide que cada alumno escriba una frase con la palabra "entonces" y su negación.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Cierra con la pregunta de la diapositiva y deja que la discutan en parejas durante un minuto.
Demuestra en vivo: si x = 5, la línea x = x + 1 deja a x en 6. En matemáticas, x = 5 solo describe, no cambia nada.
Anticipa el Bloque 2: esta idea será la base para contadores y ciclos.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E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Álgebra y lógica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260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1 · Bloque 1 · Variables, propiedades, ecuaciones y condicionales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949440" y="1371600"/>
            <a:ext cx="1645920" cy="1645920"/>
          </a:xfrm>
          <a:prstGeom prst="ellipse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3838" y="1815998"/>
            <a:ext cx="757123" cy="7571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Variables: cajas con nombre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letra guarda un número que puede cambiar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2194560" cy="1188720"/>
          </a:xfrm>
          <a:prstGeom prst="roundRect">
            <a:avLst>
              <a:gd name="adj" fmla="val 9231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20116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4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2880360" y="2423160"/>
            <a:ext cx="457200" cy="365760"/>
          </a:xfrm>
          <a:prstGeom prst="rightArrow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74720" y="2011680"/>
            <a:ext cx="2377440" cy="1188720"/>
          </a:xfrm>
          <a:prstGeom prst="roundRect">
            <a:avLst>
              <a:gd name="adj" fmla="val 9231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474720" y="20116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 + 3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989320" y="2423160"/>
            <a:ext cx="457200" cy="365760"/>
          </a:xfrm>
          <a:prstGeom prst="rightArrow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0" y="2011680"/>
            <a:ext cx="2011680" cy="1188720"/>
          </a:xfrm>
          <a:prstGeom prst="roundRect">
            <a:avLst>
              <a:gd name="adj" fmla="val 9231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0" y="20116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657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x = 4: 2 · 4 + 3 = 11. Si cambia x, cambia el resultado.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Orden de operaciones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Primero se multiplica, después se suma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2377440" cy="1097280"/>
          </a:xfrm>
          <a:prstGeom prst="roundRect">
            <a:avLst>
              <a:gd name="adj" fmla="val 100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7373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+ 3 · 4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3063240" y="2057400"/>
            <a:ext cx="457200" cy="365760"/>
          </a:xfrm>
          <a:prstGeom prst="rightArrow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0" y="1737360"/>
            <a:ext cx="2377440" cy="1097280"/>
          </a:xfrm>
          <a:prstGeom prst="roundRect">
            <a:avLst>
              <a:gd name="adj" fmla="val 100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657600" y="17373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+ 12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6172200" y="2057400"/>
            <a:ext cx="457200" cy="365760"/>
          </a:xfrm>
          <a:prstGeom prst="rightArrow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766560" y="173736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66560" y="17373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383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Paréntesis  →  potencias  →  multiplicación y división  →  suma y resta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39319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este orden, 2 + 3 · 4 daría 20 por error.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Propiedades para simplificar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Cambian la forma de escribir, no el valor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1920240"/>
            <a:ext cx="731520" cy="731520"/>
          </a:xfrm>
          <a:prstGeom prst="ellipse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2117750"/>
            <a:ext cx="336499" cy="33649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834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Conmutativa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2918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+ b = b + a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9776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+ x = x + 3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291840" y="164592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66160" y="1920240"/>
            <a:ext cx="731520" cy="731520"/>
          </a:xfrm>
          <a:prstGeom prst="ellipse">
            <a:avLst/>
          </a:prstGeom>
          <a:solidFill>
            <a:srgbClr val="6FA287"/>
          </a:solidFill>
          <a:ln w="12700">
            <a:solidFill>
              <a:srgbClr val="6FA287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670" y="2117750"/>
            <a:ext cx="336499" cy="33649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566160" y="2834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Asociativa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566160" y="32918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 + b) + c = a + (b + c)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566160" y="39776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Agrupar no cambia el total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035040" y="164592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309360" y="1920240"/>
            <a:ext cx="731520" cy="731520"/>
          </a:xfrm>
          <a:prstGeom prst="ellipse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6870" y="2117750"/>
            <a:ext cx="336499" cy="33649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09360" y="2834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309360" y="32918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a(b + c) = ab + ac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6309360" y="39776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3(x + 4) = 3x + 12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distributiva en acción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número de afuera multiplica a cada término de adentro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2926080" cy="1097280"/>
          </a:xfrm>
          <a:prstGeom prst="roundRect">
            <a:avLst>
              <a:gd name="adj" fmla="val 100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8288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3(x + 4)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3657600" y="2194560"/>
            <a:ext cx="822960" cy="365760"/>
          </a:xfrm>
          <a:prstGeom prst="rightArrow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663440" y="1828800"/>
            <a:ext cx="2926080" cy="1097280"/>
          </a:xfrm>
          <a:prstGeom prst="roundRect">
            <a:avLst>
              <a:gd name="adj" fmla="val 100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18288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+ 12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Comprobación con x = 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794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3(2 + 4) = 18        3 · 2 + 12 = 18        Son iguales.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ecuación es una balanza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haces de un lado, lo haces del otro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4206240" y="2743200"/>
            <a:ext cx="731520" cy="914400"/>
          </a:xfrm>
          <a:prstGeom prst="triangle">
            <a:avLst/>
          </a:prstGeom>
          <a:solidFill>
            <a:srgbClr val="2F3E4E"/>
          </a:solidFill>
          <a:ln w="12700">
            <a:solidFill>
              <a:srgbClr val="2F3E4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63040" y="2651760"/>
            <a:ext cx="6217920" cy="109728"/>
          </a:xfrm>
          <a:prstGeom prst="rect">
            <a:avLst/>
          </a:prstGeom>
          <a:solidFill>
            <a:srgbClr val="2F3E4E"/>
          </a:solidFill>
          <a:ln w="12700">
            <a:solidFill>
              <a:srgbClr val="2F3E4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20240" y="2761488"/>
            <a:ext cx="0" cy="438912"/>
          </a:xfrm>
          <a:prstGeom prst="line">
            <a:avLst/>
          </a:prstGeom>
          <a:noFill/>
          <a:ln w="19050">
            <a:solidFill>
              <a:srgbClr val="2F3E4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223760" y="2761488"/>
            <a:ext cx="0" cy="438912"/>
          </a:xfrm>
          <a:prstGeom prst="line">
            <a:avLst/>
          </a:prstGeom>
          <a:noFill/>
          <a:ln w="19050">
            <a:solidFill>
              <a:srgbClr val="2F3E4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3200400"/>
            <a:ext cx="2011680" cy="731520"/>
          </a:xfrm>
          <a:prstGeom prst="roundRect">
            <a:avLst>
              <a:gd name="adj" fmla="val 150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14400" y="32004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+ 5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217920" y="3200400"/>
            <a:ext cx="2011680" cy="731520"/>
          </a:xfrm>
          <a:prstGeom prst="roundRect">
            <a:avLst>
              <a:gd name="adj" fmla="val 150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217920" y="32004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 5 a los dos lados: x = 7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Resolver paso a paso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x + 5 = 12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28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+ 5 = 12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3337560" y="164592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ECE8F6"/>
          </a:solidFill>
          <a:ln w="12700">
            <a:solidFill>
              <a:srgbClr val="ECE8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66160" y="1828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566160" y="22860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12 − 5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6126480" y="164592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55080" y="1828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355080" y="22860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7</a:t>
            </a:r>
            <a:endParaRPr lang="en-US" sz="2600" dirty="0"/>
          </a:p>
        </p:txBody>
      </p:sp>
      <p:sp>
        <p:nvSpPr>
          <p:cNvPr id="15" name="Shape 12"/>
          <p:cNvSpPr/>
          <p:nvPr/>
        </p:nvSpPr>
        <p:spPr>
          <a:xfrm>
            <a:off x="2971800" y="2377440"/>
            <a:ext cx="182880" cy="274320"/>
          </a:xfrm>
          <a:prstGeom prst="rightArrow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760720" y="2377440"/>
            <a:ext cx="182880" cy="274320"/>
          </a:xfrm>
          <a:prstGeom prst="rightArrow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3657600"/>
            <a:ext cx="8046720" cy="731520"/>
          </a:xfrm>
          <a:prstGeom prst="roundRect">
            <a:avLst>
              <a:gd name="adj" fmla="val 15000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36576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Comprobación: 7 + 5 = 12. Siempre comprueba la respuesta.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Igualdad y asignación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signo "=" significa cosas distintas. En C++, comparar se escribe ==.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3749040" cy="2834640"/>
          </a:xfrm>
          <a:prstGeom prst="roundRect">
            <a:avLst>
              <a:gd name="adj" fmla="val 3871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1920240"/>
            <a:ext cx="731520" cy="731520"/>
          </a:xfrm>
          <a:prstGeom prst="ellipse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2117750"/>
            <a:ext cx="336499" cy="33649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834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álgebra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2918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5 es una afirmación: x vale 5.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4846320" y="1645920"/>
            <a:ext cx="3749040" cy="2834640"/>
          </a:xfrm>
          <a:prstGeom prst="roundRect">
            <a:avLst>
              <a:gd name="adj" fmla="val 3871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120640" y="1920240"/>
            <a:ext cx="731520" cy="731520"/>
          </a:xfrm>
          <a:prstGeom prst="ellipse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150" y="2117750"/>
            <a:ext cx="336499" cy="33649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120640" y="2834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C++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5120640" y="32918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x + 1; es una orden: toma x, súmale 1 y guárdalo en x.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Proposiciones: verdadero o falso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proposición tiene un valor de verdad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3749040" cy="2651760"/>
          </a:xfrm>
          <a:prstGeom prst="roundRect">
            <a:avLst>
              <a:gd name="adj" fmla="val 4138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1920240"/>
            <a:ext cx="731520" cy="731520"/>
          </a:xfrm>
          <a:prstGeom prst="ellipse">
            <a:avLst/>
          </a:prstGeom>
          <a:solidFill>
            <a:srgbClr val="6FA287"/>
          </a:solidFill>
          <a:ln w="12700">
            <a:solidFill>
              <a:srgbClr val="6FA287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2117750"/>
            <a:ext cx="336499" cy="33649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8346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"Mazatlán está en Sinaloa."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657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proposición: es verdadera.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4846320" y="1645920"/>
            <a:ext cx="3749040" cy="2651760"/>
          </a:xfrm>
          <a:prstGeom prst="roundRect">
            <a:avLst>
              <a:gd name="adj" fmla="val 4138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120640" y="1920240"/>
            <a:ext cx="731520" cy="731520"/>
          </a:xfrm>
          <a:prstGeom prst="ellipse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150" y="2117750"/>
            <a:ext cx="336499" cy="33649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120640" y="28346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"¡Qué día tan bonito!"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5120640" y="3657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proposición: es una opinión.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Y, O y NO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de verdad (V = verdadero, F = falso)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80467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63040"/>
                <a:gridCol w="1645920"/>
                <a:gridCol w="164592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Y q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O q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3840480"/>
            <a:ext cx="8046720" cy="640080"/>
          </a:xfrm>
          <a:prstGeom prst="roundRect">
            <a:avLst>
              <a:gd name="adj" fmla="val 17143"/>
            </a:avLst>
          </a:prstGeom>
          <a:solidFill>
            <a:srgbClr val="ECE8F6"/>
          </a:solidFill>
          <a:ln w="12700">
            <a:solidFill>
              <a:srgbClr val="ECE8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384048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lógica, O es incluyente: basta con que una parte sea verdadera.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p, entonces q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es falso cuando p es verdadero y q es falso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38404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→ q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846320" y="1554480"/>
            <a:ext cx="3749040" cy="2926080"/>
          </a:xfrm>
          <a:prstGeom prst="roundRect">
            <a:avLst>
              <a:gd name="adj" fmla="val 3750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5120640" y="1783080"/>
            <a:ext cx="640080" cy="640080"/>
          </a:xfrm>
          <a:prstGeom prst="ellipse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93462" y="1955902"/>
            <a:ext cx="294437" cy="29443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120640" y="2651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"Si estudio, entonces apruebo"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120640" y="3200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promesa solo se rompe si estudié y no aprobé.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Negación de un condicional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niega con "Y", no con "si no"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783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(p → q) = p Y NO q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"llueve y no me mojo"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846320" y="155448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20640" y="17830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Morgan: NO (p Y q) = NO p O NO q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5120640" y="2651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"no llueve o no hace frío"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4023360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40233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común: la negación NO es "si no p, entonces no q".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Errores frecuentes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Revísalos antes del examen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548640" cy="548640"/>
          </a:xfrm>
          <a:prstGeom prst="ellipse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3" y="1702613"/>
            <a:ext cx="252374" cy="25237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15544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2 + 3 · 4 = 20 (las multiplicaciones van primero)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2331720"/>
            <a:ext cx="548640" cy="548640"/>
          </a:xfrm>
          <a:prstGeom prst="ellipse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3" y="2479853"/>
            <a:ext cx="252374" cy="25237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233172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2(x + 3) = 2x + 3 (la distributiva multiplica todo)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48640" y="3108960"/>
            <a:ext cx="548640" cy="548640"/>
          </a:xfrm>
          <a:prstGeom prst="ellipse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773" y="3257093"/>
            <a:ext cx="252374" cy="25237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310896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solo un lado de la ecuación</a:t>
            </a:r>
            <a:endParaRPr lang="en-US" sz="1800" dirty="0"/>
          </a:p>
        </p:txBody>
      </p:sp>
      <p:sp>
        <p:nvSpPr>
          <p:cNvPr id="15" name="Shape 9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773" y="4034333"/>
            <a:ext cx="252374" cy="25237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371600" y="388620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Confundir la negación de "si… entonces"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Resumen de la clase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828800" cy="2743200"/>
          </a:xfrm>
          <a:prstGeom prst="roundRect">
            <a:avLst>
              <a:gd name="adj" fmla="val 60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97280" y="1828800"/>
            <a:ext cx="731520" cy="731520"/>
          </a:xfrm>
          <a:prstGeom prst="ellipse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4790" y="2026310"/>
            <a:ext cx="336499" cy="336499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30175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34747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y sustituir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587752" y="1554480"/>
            <a:ext cx="1828800" cy="2743200"/>
          </a:xfrm>
          <a:prstGeom prst="roundRect">
            <a:avLst>
              <a:gd name="adj" fmla="val 60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36392" y="1828800"/>
            <a:ext cx="731520" cy="731520"/>
          </a:xfrm>
          <a:prstGeom prst="ellipse">
            <a:avLst/>
          </a:prstGeom>
          <a:solidFill>
            <a:srgbClr val="6FA287"/>
          </a:solidFill>
          <a:ln w="12700">
            <a:solidFill>
              <a:srgbClr val="6FA287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902" y="2026310"/>
            <a:ext cx="336499" cy="33649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770632" y="30175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Propiedades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2770632" y="34747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Conmutativa, asociativa, distributiva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626864" y="1554480"/>
            <a:ext cx="1828800" cy="2743200"/>
          </a:xfrm>
          <a:prstGeom prst="roundRect">
            <a:avLst>
              <a:gd name="adj" fmla="val 6000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175504" y="1828800"/>
            <a:ext cx="731520" cy="731520"/>
          </a:xfrm>
          <a:prstGeom prst="ellipse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014" y="2026310"/>
            <a:ext cx="336499" cy="33649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809744" y="30175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Ecuaciones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4809744" y="34747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 siempre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6665976" y="1554480"/>
            <a:ext cx="1828800" cy="2743200"/>
          </a:xfrm>
          <a:prstGeom prst="roundRect">
            <a:avLst>
              <a:gd name="adj" fmla="val 6000"/>
            </a:avLst>
          </a:prstGeom>
          <a:solidFill>
            <a:srgbClr val="ECE8F6"/>
          </a:solidFill>
          <a:ln w="12700">
            <a:solidFill>
              <a:srgbClr val="ECE8F6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214616" y="1828800"/>
            <a:ext cx="731520" cy="731520"/>
          </a:xfrm>
          <a:prstGeom prst="ellipse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2126" y="2026310"/>
            <a:ext cx="336499" cy="336499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48856" y="30175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</a:t>
            </a:r>
            <a:endParaRPr lang="en-US" sz="1800" dirty="0"/>
          </a:p>
        </p:txBody>
      </p:sp>
      <p:sp>
        <p:nvSpPr>
          <p:cNvPr id="24" name="Text 17"/>
          <p:cNvSpPr txBox="1"/>
          <p:nvPr/>
        </p:nvSpPr>
        <p:spPr>
          <a:xfrm>
            <a:off x="6848856" y="34747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Y, O, NO, si… entonces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F3E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diferencia hay?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260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5 en matemáticas  ·  x = x + 1 en programación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949440" y="1371600"/>
            <a:ext cx="1645920" cy="1645920"/>
          </a:xfrm>
          <a:prstGeom prst="ellipse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3838" y="1815998"/>
            <a:ext cx="757123" cy="75712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 1 · Álgebra y lógica</dc:title>
  <dc:subject>PptxGenJS Presentation</dc:subject>
  <dc:creator>Club de programación Competitiva - BugSquad</dc:creator>
  <cp:lastModifiedBy>Club de programación Competitiva - BugSquad</cp:lastModifiedBy>
  <cp:revision>1</cp:revision>
  <dcterms:created xsi:type="dcterms:W3CDTF">2026-10-17T02:51:31Z</dcterms:created>
  <dcterms:modified xsi:type="dcterms:W3CDTF">2026-10-17T02:51:31Z</dcterms:modified>
</cp:coreProperties>
</file>