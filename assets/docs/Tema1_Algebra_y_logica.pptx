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E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Álgebra y lógica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260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1 · Bloque 1 · Variables, propiedades, ecuaciones y lógica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949440" y="1371600"/>
            <a:ext cx="1645920" cy="1645920"/>
          </a:xfrm>
          <a:prstGeom prst="ellipse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3838" y="1815998"/>
            <a:ext cx="757123" cy="7571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Variables: cajas con nombre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letra guarda un valor que puede cambiar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194560" cy="1188720"/>
          </a:xfrm>
          <a:prstGeom prst="roundRect">
            <a:avLst>
              <a:gd name="adj" fmla="val 9231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9202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4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2880360" y="2331720"/>
            <a:ext cx="457200" cy="365760"/>
          </a:xfrm>
          <a:prstGeom prst="rightArrow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0" y="1920240"/>
            <a:ext cx="2377440" cy="1188720"/>
          </a:xfrm>
          <a:prstGeom prst="roundRect">
            <a:avLst>
              <a:gd name="adj" fmla="val 9231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19202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 + 3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5989320" y="2331720"/>
            <a:ext cx="457200" cy="365760"/>
          </a:xfrm>
          <a:prstGeom prst="rightArrow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0" y="1920240"/>
            <a:ext cx="2011680" cy="1188720"/>
          </a:xfrm>
          <a:prstGeom prst="roundRect">
            <a:avLst>
              <a:gd name="adj" fmla="val 9231"/>
            </a:avLst>
          </a:prstGeom>
          <a:solidFill>
            <a:srgbClr val="FBEADC"/>
          </a:solidFill>
          <a:ln w="12700">
            <a:solidFill>
              <a:srgbClr val="FBEA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0" y="19202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747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x = 4: 2 · 4 + 3 = 11. Si cambia x, cambia el resultado.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233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2x + 3: 2x y 3 son términos; 2 es el coeficiente y 3 es el término constante.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Orden de operaciones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Primero se multiplica, después se suma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377440" cy="1097280"/>
          </a:xfrm>
          <a:prstGeom prst="roundRect">
            <a:avLst>
              <a:gd name="adj" fmla="val 10000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373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+ 3 · 4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063240" y="2057400"/>
            <a:ext cx="457200" cy="365760"/>
          </a:xfrm>
          <a:prstGeom prst="rightArrow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0" y="1737360"/>
            <a:ext cx="2377440" cy="1097280"/>
          </a:xfrm>
          <a:prstGeom prst="roundRect">
            <a:avLst>
              <a:gd name="adj" fmla="val 10000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7600" y="17373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+ 12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172200" y="2057400"/>
            <a:ext cx="457200" cy="365760"/>
          </a:xfrm>
          <a:prstGeom prst="rightArrow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173736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FBEADC"/>
          </a:solidFill>
          <a:ln w="12700">
            <a:solidFill>
              <a:srgbClr val="FBEA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66560" y="17373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Paréntesis  →  potencias  →  multiplicación y división  →  suma y resta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749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2 + 3 · 4 = 14, no 20.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Igualdad y asignación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signo "=" puede ser una afirmación o una orden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40480" cy="2651760"/>
          </a:xfrm>
          <a:prstGeom prst="roundRect">
            <a:avLst>
              <a:gd name="adj" fmla="val 4138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F7C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álgebra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5 es una afirmación: x es 5.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 x = x + 1 la tratas como ecuación, al restar x obtienes 0 = 1, algo imposible.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754880" y="1645920"/>
            <a:ext cx="3840480" cy="2651760"/>
          </a:xfrm>
          <a:prstGeom prst="roundRect">
            <a:avLst>
              <a:gd name="adj" fmla="val 4138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FA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orden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331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x + 1 significa: toma el valor de x, súmale 1 y guarda el resultado en x.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orden, es válida.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 vale 3 y ejecutas la orden "suma 1 a a", a pasa a valer 4.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Propiedades para simplificar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Cambian la forma de escribir, no el valor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9653" y="1976933"/>
            <a:ext cx="252374" cy="25237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3152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Conmutativa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1089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+ b = b + 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b = b · 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3 + x = x + 3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291840" y="164592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828800"/>
            <a:ext cx="548640" cy="548640"/>
          </a:xfrm>
          <a:prstGeom prst="ellipse">
            <a:avLst/>
          </a:prstGeom>
          <a:solidFill>
            <a:srgbClr val="6FA287"/>
          </a:solidFill>
          <a:ln w="12700">
            <a:solidFill>
              <a:srgbClr val="6FA287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2853" y="1976933"/>
            <a:ext cx="252374" cy="25237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7472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Asociativa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474720" y="31089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 + b) + c = a + (b + c)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(2 + x) + 5 = 2 + (x + 5)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035040" y="164592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FBEADC"/>
          </a:solidFill>
          <a:ln w="12700">
            <a:solidFill>
              <a:srgbClr val="FBEAD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17920" y="1828800"/>
            <a:ext cx="548640" cy="548640"/>
          </a:xfrm>
          <a:prstGeom prst="ellipse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6053" y="1976933"/>
            <a:ext cx="252374" cy="25237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21792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217920" y="31089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a(b + c) = ab + ac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3(x + 4) = 3x + 12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Simplificar es agrupar términos semejantes:  2(x + 3) − x = x + 6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distributiva en acción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número de afuera multiplica a cada término de adentro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926080" cy="1097280"/>
          </a:xfrm>
          <a:prstGeom prst="roundRect">
            <a:avLst>
              <a:gd name="adj" fmla="val 10000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8288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3(x + 4)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0" y="2194560"/>
            <a:ext cx="822960" cy="365760"/>
          </a:xfrm>
          <a:prstGeom prst="rightArrow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63440" y="1828800"/>
            <a:ext cx="2926080" cy="1097280"/>
          </a:xfrm>
          <a:prstGeom prst="roundRect">
            <a:avLst>
              <a:gd name="adj" fmla="val 10000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18288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 + 12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Comprobación con x = 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794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3(2 + 4) = 18        3 · 2 + 12 = 18        Son iguales.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Cuidado con el signo negativo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 el signo por cada término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926080" cy="1097280"/>
          </a:xfrm>
          <a:prstGeom prst="roundRect">
            <a:avLst>
              <a:gd name="adj" fmla="val 10000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373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−2(x − 4)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0" y="2103120"/>
            <a:ext cx="822960" cy="365760"/>
          </a:xfrm>
          <a:prstGeom prst="rightArrow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63440" y="1737360"/>
            <a:ext cx="2926080" cy="1097280"/>
          </a:xfrm>
          <a:prstGeom prst="roundRect">
            <a:avLst>
              <a:gd name="adj" fmla="val 10000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17373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−2x + 8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2004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(−2) · x = −2x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(−2) · (−4) = +8: negativo por negativo da positivo.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común: escribir −2x − 8.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ecuación es una balanza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haces de un lado, lo haces del otro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874520" cy="2560320"/>
          </a:xfrm>
          <a:prstGeom prst="roundRect">
            <a:avLst>
              <a:gd name="adj" fmla="val 5854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9653" y="1976933"/>
            <a:ext cx="252374" cy="25237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31520" y="2514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Simplificar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108960"/>
            <a:ext cx="1508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Quita paréntesis y agrupa términos semejantes.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606040" y="1645920"/>
            <a:ext cx="1874520" cy="2560320"/>
          </a:xfrm>
          <a:prstGeom prst="roundRect">
            <a:avLst>
              <a:gd name="adj" fmla="val 5854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788920" y="1828800"/>
            <a:ext cx="548640" cy="548640"/>
          </a:xfrm>
          <a:prstGeom prst="ellipse">
            <a:avLst/>
          </a:prstGeom>
          <a:solidFill>
            <a:srgbClr val="6FA287"/>
          </a:solidFill>
          <a:ln w="12700">
            <a:solidFill>
              <a:srgbClr val="6FA287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7053" y="1976933"/>
            <a:ext cx="252374" cy="25237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88920" y="2514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Agrupar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788920" y="3108960"/>
            <a:ext cx="1508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de un lado, números del otro.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663440" y="1645920"/>
            <a:ext cx="1874520" cy="2560320"/>
          </a:xfrm>
          <a:prstGeom prst="roundRect">
            <a:avLst>
              <a:gd name="adj" fmla="val 5854"/>
            </a:avLst>
          </a:prstGeom>
          <a:solidFill>
            <a:srgbClr val="FBEADC"/>
          </a:solidFill>
          <a:ln w="12700">
            <a:solidFill>
              <a:srgbClr val="FBEAD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846320" y="1828800"/>
            <a:ext cx="548640" cy="548640"/>
          </a:xfrm>
          <a:prstGeom prst="ellipse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4453" y="1976933"/>
            <a:ext cx="252374" cy="25237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846320" y="2514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Despejar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4846320" y="3108960"/>
            <a:ext cx="1508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entre el coeficiente de la variable.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720840" y="1645920"/>
            <a:ext cx="1874520" cy="2560320"/>
          </a:xfrm>
          <a:prstGeom prst="roundRect">
            <a:avLst>
              <a:gd name="adj" fmla="val 5854"/>
            </a:avLst>
          </a:prstGeom>
          <a:solidFill>
            <a:srgbClr val="ECE8F6"/>
          </a:solidFill>
          <a:ln w="12700">
            <a:solidFill>
              <a:srgbClr val="ECE8F6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903720" y="1828800"/>
            <a:ext cx="548640" cy="548640"/>
          </a:xfrm>
          <a:prstGeom prst="ellipse">
            <a:avLst/>
          </a:prstGeom>
          <a:solidFill>
            <a:srgbClr val="8E7FBF"/>
          </a:solidFill>
          <a:ln w="12700">
            <a:solidFill>
              <a:srgbClr val="8E7FB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1853" y="1976933"/>
            <a:ext cx="252374" cy="25237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903720" y="2514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Comprobar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6903720" y="3108960"/>
            <a:ext cx="1508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Sustituye en la ecuación original.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Resolver paso a paso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3x − 4 = 11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8046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Sumamos 4 en ambos lados: 3x = 15.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Dividimos entre 3: x = 5.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Comprobación: 3(5) − 4 = 15 − 4 = 11. Sí se cumple.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8046720" cy="1097280"/>
          </a:xfrm>
          <a:prstGeom prst="roundRect">
            <a:avLst>
              <a:gd name="adj" fmla="val 10000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6118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 ejemplo: 2(x + 3) − x = 10 → x + 6 = 10 → x = 4.   Comprobación: 2(7) − 4 = 10.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Traducir un problema a ecuación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Perímetro de 180 m; el largo mide 10 m más que el doble del ancho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8046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Ancho: x. Largo: 2x + 10.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Perímetro: 2(largo) + 2(ancho) = 180, así que 2(2x + 10) + 2x = 180.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 y agrupación: 6x + 20 = 180, entonces 6x = 160 y x = 80/3 ≈ 26.67 m.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Largo: 190/3 ≈ 63.33 m. Comprobación: el perímetro es 180 m.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Proposiciones: verdadero o falso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proposición tiene exactamente un valor de verdad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3566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(p ∧ q): verdadera solo si ambas son V.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(p ∨ q): verdadera si al menos una es V.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(¬p): invierte el valor de verdad.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Condicional (p → q): solo es falso si p es V y q es F.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0" y="1828800"/>
          <a:ext cx="4206240" cy="914400"/>
        </p:xfrm>
        <a:graphic>
          <a:graphicData uri="http://schemas.openxmlformats.org/drawingml/2006/table">
            <a:tbl>
              <a:tblPr/>
              <a:tblGrid>
                <a:gridCol w="694944"/>
                <a:gridCol w="694944"/>
                <a:gridCol w="694944"/>
                <a:gridCol w="713232"/>
                <a:gridCol w="713232"/>
                <a:gridCol w="694944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¬p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∧ q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∨ q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→ q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 p, entonces q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promesa solo se rompe si p ocurre y q falla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0" cy="1005840"/>
          </a:xfrm>
          <a:prstGeom prst="roundRect">
            <a:avLst>
              <a:gd name="adj" fmla="val 10909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373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→ q ≡ ¬p ∨ q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754880" y="1737360"/>
            <a:ext cx="3840480" cy="1005840"/>
          </a:xfrm>
          <a:prstGeom prst="roundRect">
            <a:avLst>
              <a:gd name="adj" fmla="val 10909"/>
            </a:avLst>
          </a:prstGeom>
          <a:solidFill>
            <a:srgbClr val="FBEADC"/>
          </a:solidFill>
          <a:ln w="12700">
            <a:solidFill>
              <a:srgbClr val="FBEA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17373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¬(p → q) ≡ p ∧ ¬q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017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"si llueve, llevo paraguas". Es falsa solo si llueve y salgo sin paraguas.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49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Morgan:   ¬(p ∧ q) ≡ ¬p ∨ ¬q        ¬(p ∨ q) ≡ ¬p ∧ ¬q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Errores frecuentes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Revísalos antes del examen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8046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 distributiva con signo negativo: −a(b − c) = −ab + ac.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Negar un condicional como ¬p → ¬q. La negación correcta es p ∧ ¬q.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Escribir a + b / c cuando se quiere (a + b) / c. Los paréntesis cambian el resultado.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 x = x + 1 como ecuación. Es una orden: x cambia de valor.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Resumen de la clase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Variables, propiedades, ecuaciones y lógica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8046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4864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 clave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Variables y expresiones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Término, coeficiente y constante; orden de operaciones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Igualdad y asignación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"=" afirma en álgebra; en programación una orden cambia el valor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Propiedades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Conmutativa, asociativa y distributiva para simplificar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Ecuaciones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Balanza: simplificar, agrupar, despejar y comprobar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Lógica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→ q solo es falso si p es V y q es F; equivale a ¬p ∨ q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Preguntas de reflexión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Respóndelas antes de la tarea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8046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conviene simplificar una expresión antes de resolverla?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condición es NO (x &gt; 30 y y &lt; 100), ¿cómo la reescribes con De Morgan?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 comprobar una solución no se cumple la igualdad original, ¿qué significa?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sitio: Pestaña Practicar (14 ejercicios) y Quiz (10 preguntas).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Tema 1 · Álgebra y lógica</dc:title>
  <dc:subject>PptxGenJS Presentation</dc:subject>
  <dc:creator>Club de programación Competitiva - BugSquad</dc:creator>
  <cp:lastModifiedBy>Club de programación Competitiva - BugSquad</cp:lastModifiedBy>
  <cp:revision>1</cp:revision>
  <dcterms:created xsi:type="dcterms:W3CDTF">2026-10-22T17:21:38Z</dcterms:created>
  <dcterms:modified xsi:type="dcterms:W3CDTF">2026-10-22T17:21:38Z</dcterms:modified>
</cp:coreProperties>
</file>