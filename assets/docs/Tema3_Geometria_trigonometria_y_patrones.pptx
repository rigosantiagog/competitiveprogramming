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Geometría, trigonometría y patrones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3 · Bloque 1 · Ángulos, Pitágoras, trigonometría y sucesiones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0" y="1371600"/>
            <a:ext cx="1645920" cy="164592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3838" y="1815998"/>
            <a:ext cx="757123" cy="7571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 figuras y distancias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formas y relaciones a números exactos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76933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Ángulos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Ángulos, triángulos y polígonos.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1828800"/>
            <a:ext cx="548640" cy="5486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053" y="197693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Pitágoras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Lados de un triángulo rectángulo y distancias.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53" y="197693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Trigonometría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Razones entre lados y ángulos.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720840" y="164592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CE8F6"/>
          </a:solidFill>
          <a:ln w="12700">
            <a:solidFill>
              <a:srgbClr val="ECE8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828800"/>
            <a:ext cx="548640" cy="548640"/>
          </a:xfrm>
          <a:prstGeom prst="ellipse">
            <a:avLst/>
          </a:prstGeom>
          <a:solidFill>
            <a:srgbClr val="8E7FBF"/>
          </a:solidFill>
          <a:ln w="12700">
            <a:solidFill>
              <a:srgbClr val="8E7F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53" y="197693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037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Patrones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310896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Progresiones y sumas acumuladas.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Clasificación de ángulos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ángulo se mide en grados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76933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Agudo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0° y 90°.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06040" y="164592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88920" y="1828800"/>
            <a:ext cx="548640" cy="5486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053" y="197693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Recto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90°.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64592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4453" y="197693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8463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Obtuso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84632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90° y 180°.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720840" y="1645920"/>
            <a:ext cx="1874520" cy="2011680"/>
          </a:xfrm>
          <a:prstGeom prst="roundRect">
            <a:avLst>
              <a:gd name="adj" fmla="val 5854"/>
            </a:avLst>
          </a:prstGeom>
          <a:solidFill>
            <a:srgbClr val="ECE8F6"/>
          </a:solidFill>
          <a:ln w="12700">
            <a:solidFill>
              <a:srgbClr val="ECE8F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828800"/>
            <a:ext cx="548640" cy="548640"/>
          </a:xfrm>
          <a:prstGeom prst="ellipse">
            <a:avLst/>
          </a:prstGeom>
          <a:solidFill>
            <a:srgbClr val="8E7FBF"/>
          </a:solidFill>
          <a:ln w="12700">
            <a:solidFill>
              <a:srgbClr val="8E7F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853" y="1976933"/>
            <a:ext cx="252374" cy="25237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903720" y="251460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Llano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6903720" y="31089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 180°.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Complementarios: a + b = 90°.     Suplementarios: a + b = 180°.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Triángulos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suma de sus ángulos internos siempre es 180°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64592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645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+ β + γ = 180°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Equilátero: tres lados iguales; cada ángulo mide 60°.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Isósceles: dos lados iguales; los ángulos opuestos a ellos también son iguales.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Escaleno: tres lados distintos.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Rectángulo: un ángulo de 90°; los otros dos suman 90°.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Ángulos de un polígono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divide en n − 2 triángulos desde un mismo vértice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64592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645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(n − 2) · 180°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2743200"/>
          <a:ext cx="5852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Polígono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Lados 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Suma de ángulos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Cuadrilátero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Pentágono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Hexágono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de Pitágoras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triángulo rectángulo, a² + b² = c²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64592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645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a² + b² = c²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 de 30 m por 40 m. Dar la vuelta por el borde: 30 + 40 = 70 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en diagonal: c = √(30² + 40²) = √2500 = 50 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al cruzar: 70 − 50 = 20 m.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Distancia entre dos puntos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Pitágoras aplicado a las coordenadas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914400"/>
          </a:xfrm>
          <a:prstGeom prst="roundRect">
            <a:avLst>
              <a:gd name="adj" fmla="val 12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√((x2 − x1)² + (y2 − y1)²)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A(2, 3) y B(6, 8): Δx = 4 y Δy = 5.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√(16 + 25) = √41 ≈ 6.40.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de los puntos no cambia la distancia.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comparar distancias basta comparar sus cuadrados.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Razones trigonométricas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entre lados de un triángulo rectángulo (SOH-CAH-TOA)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4F7CAC"/>
          </a:solidFill>
          <a:ln w="12700">
            <a:solidFill>
              <a:srgbClr val="4F7CA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1976933"/>
            <a:ext cx="252374" cy="25237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Seno (SOH)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θ = opuesto / hipotenusa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6459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1828800"/>
            <a:ext cx="548640" cy="548640"/>
          </a:xfrm>
          <a:prstGeom prst="ellipse">
            <a:avLst/>
          </a:prstGeom>
          <a:solidFill>
            <a:srgbClr val="6FA287"/>
          </a:solidFill>
          <a:ln w="12700">
            <a:solidFill>
              <a:srgbClr val="6FA28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853" y="1976933"/>
            <a:ext cx="252374" cy="25237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Coseno (CAH)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3108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 θ = adyacente / hipotenusa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035040" y="164592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17920" y="1828800"/>
            <a:ext cx="548640" cy="548640"/>
          </a:xfrm>
          <a:prstGeom prst="ellipse">
            <a:avLst/>
          </a:prstGeom>
          <a:solidFill>
            <a:srgbClr val="E39B6B"/>
          </a:solidFill>
          <a:ln w="12700">
            <a:solidFill>
              <a:srgbClr val="E39B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53" y="1976933"/>
            <a:ext cx="252374" cy="25237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2179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Tangente (TOA)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31089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θ = opuesto / adyacente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hipotenusa es el lado más largo, frente al ángulo recto.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de 30°, 45° y 60°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Memorízalos para no depender de decimales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Ángulo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 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 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 θ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√3/2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√3/3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√2/2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√2/2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60°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√3/2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un asta con sombra de 6√3 m y elevación de 30° mide h = 6 m.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 el modo de la calculadora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Compruébalo antes de resolver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468880"/>
          </a:xfrm>
          <a:prstGeom prst="roundRect">
            <a:avLst>
              <a:gd name="adj" fmla="val 4444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DEG (grados)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sen(30) = 0.5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vuelta completa mide 360°. Es el modo que usamos en el tema.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468880"/>
          </a:xfrm>
          <a:prstGeom prst="roundRect">
            <a:avLst>
              <a:gd name="adj" fmla="val 4444"/>
            </a:avLst>
          </a:prstGeom>
          <a:solidFill>
            <a:srgbClr val="FBEADC"/>
          </a:solidFill>
          <a:ln w="12700">
            <a:solidFill>
              <a:srgbClr val="FBEA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39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RAD (radianes)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sen(30) = −0.988…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el modo en MODE o SETUP antes de calcular.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Progresiones aritméticas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d entre términos consecutivos es constante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64592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645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a_n = a_1 + (n − 1) · 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4, 9, 14, 19, … con a_1 = 4 y d = 5.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término 20 es a_20 = 4 + 19 · 5 = 99.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Suma de una progresión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del primero y el último, por la cantidad de términos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645920"/>
            <a:ext cx="5852160" cy="914400"/>
          </a:xfrm>
          <a:prstGeom prst="roundRect">
            <a:avLst>
              <a:gd name="adj" fmla="val 120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645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S_n = n(a_1 + a_n) / 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346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7, 11, 15: a_1 = 3, a_4 = 15 y n = 4.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S_4 = 4 · (3 + 15) / 2 = 36.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de 1 a 100: 100 · 101 / 2 = 5050.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Patrones de suma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que se resuelven con una fórmula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+ 2 + … + 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 + 1) / 2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 = 100: 5050.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+ 3 + … + (2n − 1)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n²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agrega el siguiente impar: 1, 4, 9, …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visual: un cuadrado de 3 × 3 se forma con 1 + 3 + 5 = 9 cuadritos.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Razón y proporción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magnitudes por su cociente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7132320" cy="1005840"/>
          </a:xfrm>
          <a:prstGeom prst="roundRect">
            <a:avLst>
              <a:gd name="adj" fmla="val 10909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= c/d   ⇒   a · d = b · c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Extremos: a y d. Medios: b y c.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Receta: 3 tazas de harina por cada 2 de agua. Con 6 tazas de agua, x/6 = 3/2, así que x = 9 tazas.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Proporcionalidad directa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una magnitud por k multiplica la otra por el mismo k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73736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k · x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y / x. Si 4 cm³ tienen una masa de 20 g, k = 5 g/cm³.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volumen se duplica a 8 cm³, la masa es 5 · 8 = 40 g.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en el plano entre distancia real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73736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1 : 50 000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= distancia en el plano / distancia real = 1 / 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cm en el mapa: D = 4.5 · 50 000 = 225 000 cm = 2.25 km.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Triángulos semejantes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forma, lados proporcionales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F7C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AA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ángulos de un triángulo son iguales a dos de otro, los triángulos son semejantes.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840480" cy="2286000"/>
          </a:xfrm>
          <a:prstGeom prst="roundRect">
            <a:avLst>
              <a:gd name="adj" fmla="val 4800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A2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Lados homólogos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lados que se oponen a ángulos iguales tienen la misma proporción.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de Tales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paralela a un lado divide a los otros dos en la misma proporción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645920" y="1737360"/>
            <a:ext cx="5852160" cy="1005840"/>
          </a:xfrm>
          <a:prstGeom prst="roundRect">
            <a:avLst>
              <a:gd name="adj" fmla="val 10909"/>
            </a:avLst>
          </a:prstGeom>
          <a:solidFill>
            <a:srgbClr val="DDE8F3"/>
          </a:solidFill>
          <a:ln w="12700">
            <a:solidFill>
              <a:srgbClr val="DDE8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73736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/ DB = AE / EC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 es paralelo a BC, con D en AB y E en AC.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También: AD / AB = AE / AC = DE / BC.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segmento paralelo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= 15 cm, AC = 20 cm, AD = 6 cm, DE paralelo a BC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/ AB = AE / AC, así que 6 / 15 = AE / 20.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Simplificamos 6 / 15 = 2 / 5, y despejamos AE = 2 · 20 / 5.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26080" y="3566160"/>
            <a:ext cx="3291840" cy="822960"/>
          </a:xfrm>
          <a:prstGeom prst="roundRect">
            <a:avLst>
              <a:gd name="adj" fmla="val 13333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3566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 = 8 cm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Altura con sombras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rayos del sol son paralelos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1005840"/>
          </a:xfrm>
          <a:prstGeom prst="roundRect">
            <a:avLst>
              <a:gd name="adj" fmla="val 10909"/>
            </a:avLst>
          </a:prstGeom>
          <a:solidFill>
            <a:srgbClr val="E1F0E7"/>
          </a:solidFill>
          <a:ln w="12700">
            <a:solidFill>
              <a:srgbClr val="E1F0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/ 4.0 = 1.70 / 0.85 = 2   ⇒   H = 8.0 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de 1.70 m con sombra de 0.85 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con sombra de 4.0 m: su altura es 8.0 m.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triángulos son semejantes por el criterio AA.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frecuentes: proporción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Revísalos antes de la tarea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lados correspondientes: deben oponerse a ángulos iguales.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Sumar en lugar de multiplicar: y = k · x es multiplicativa.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Olvidar que las rectas deben ser paralelas: sin paralelismo, Tales no se cumple.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frecuentes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Revísalos antes del examen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complementarios (90°) con suplementarios (180°).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signo en distancias: 3 − (−4) = 7, no −1.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en radianes: revisa que sen(30) dé 0.5.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Intercambiar el cateto opuesto y el adyacente.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F3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n (cantidad de términos) con a_n (último término).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3E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clase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Ángulos, Pitágoras, trigonometría y patrones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programación Competitiva - BugSquad 2026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Subtema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 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CA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Ángulos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Complementarios 90°, suplementarios 180°; triángulo suma 180°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· Polígonos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(n − 2) · 180°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· Pitágoras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a² + b² = c²; d = √((x2 − x1)² + (y2 − y1)²)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· Trigonometría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 = O/H, cos = A/H, tan = O/A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· Patrones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a_n = a_1 + (n − 1)d; S_n = n(a_1 + a_n)/2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· Proporcionalidad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F3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a·d = b·c; y = k·x; criterio AA; AD/DB = AE/EC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3 · Geometría, trigonometría y patrones</dc:title>
  <dc:subject>PptxGenJS Presentation</dc:subject>
  <dc:creator>Club de programación Competitiva - BugSquad</dc:creator>
  <cp:lastModifiedBy>Club de programación Competitiva - BugSquad</cp:lastModifiedBy>
  <cp:revision>1</cp:revision>
  <dcterms:created xsi:type="dcterms:W3CDTF">2026-10-22T17:21:39Z</dcterms:created>
  <dcterms:modified xsi:type="dcterms:W3CDTF">2026-10-22T17:21:39Z</dcterms:modified>
</cp:coreProperties>
</file>