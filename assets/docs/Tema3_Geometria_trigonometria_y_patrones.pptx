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F3E4E"/>
                </a:solidFill>
                <a:latin typeface="Arial"/>
              </a:defRPr>
            </a:pPr>
            <a:r>
              <a:rPr sz="1400" b="0" i="0" u="none" strike="noStrike">
                <a:solidFill>
                  <a:srgbClr val="2F3E4E"/>
                </a:solidFill>
                <a:latin typeface="Arial"/>
              </a:rPr>
              <a:t>Valor de cada término (posiciones 1 a 5)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Término</c:v>
                </c:pt>
              </c:strCache>
            </c:strRef>
          </c:tx>
          <c:spPr>
            <a:solidFill>
              <a:srgbClr val="4F7CA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2F3E4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7</c:v>
                </c:pt>
                <c:pt idx="2">
                  <c:v>11</c:v>
                </c:pt>
                <c:pt idx="3">
                  <c:v>15</c:v>
                </c:pt>
                <c:pt idx="4">
                  <c:v>19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2F3E4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F6E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9D5E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6E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Pregunta de apertura: "Dos ángulos de un triángulo miden 45° y 70°. ¿Cuánto mide el tercero?" Respuesta: 65°.
Explica que esta clase une la geometría con la trigonometría, y que ambas se programan con la misma lógica de fórmulas.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Demuestra con un triángulo de papel: rasga las tres esquinas y júntalas. Forman una línea recta, es decir, 180°.
Ejemplo para practicar: ángulos de 25° y 95°. El tercero es 180 − 25 − 95 = 60°.
Pregunta: si un triángulo tiene un ángulo recto, ¿cuánto suman los otros dos? Respuesta: 90°.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 que un polígono de n lados se divide en n − 2 triángulos desde un mismo vértice, de ahí la fórmula.
Ejemplo para practicar: hexágono (n = 6). Suma = (6 − 2) · 180 = 720°.
Otro: octágono (n = 8). Suma = 6 · 180 = 1080°.
Comprobación: un hexágono se puede dividir en 4 triángulos, y 4 · 180 = 720.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Recuerda que el nombre viene de la forma: complementario completa 90°, suplementario completa 180°.
Ejemplos para practicar: el complemento de 28° es 62°. El suplemento de 125° es 55°.
Pregunta: ¿cuál es el complemento de 45°? Respuesta: 45°, porque los dos son iguales.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Enseña el teorema con un triángulo rectángulo y un procedimiento claro: suma de cuadrados, raíz al final.
Ejemplo para practicar: catetos 9 y 12. c² = 81 + 144 = 225, entonces c = 15.
Ejercicio inverso: hipotenusa 17 y cateto 8. b² = 289 − 64 = 225, entonces b = 15.
Recuerda que el cateto se despeja restando, no sumando.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Conecta la distancia con Pitágoras: las diferencias en x y en y forman los catetos del triángulo.
Ejemplo para practicar con coordenadas negativas: de (−2, 1) a (2, 4). dx = 4, dy = 3. d = √(16 + 9) = 5.
Pregunta: ¿la distancia cambia si restas en orden inverso? Respuesta: no, porque las diferencias se elevan al cuadrado.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Enseña primero a identificar los lados respecto al ángulo: hipotenusa siempre es la de enfrente del ángulo recto; el opuesto está enfrente del ángulo; el adyacente está junto.
Ejemplo para practicar: triángulo con hipotenusa 13 y adyacente 5 respecto a un ángulo θ. cos θ = 5 ÷ 13.
Otro: opuesto 3 y adyacente 4. tan θ = 3 ÷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Usa un problema real: la altura y la base de una escalera.
Ejemplo distinto del de la diapositiva: escalera de 8 m que forma 60° con el suelo.
- Altura = 8 · sen 60° = 8 · √3 ÷ 2 = 4√3, aproximadamente 6.93 m.
- Base = 8 · cos 60° = 8 · 0.5 = 4 m.
Comprobación con Pitágoras: 4² + 6.93² ≈ 64 = 8².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 que estos valores se pueden deducir de un triángulo especial, y que conviene memorizarlos.
Ejemplo para practicar: tan 45° = sen 45° ÷ cos 45° = (√2/2) ÷ (√2/2) = 1.
Curiosidad para alumnos avanzados: sen² 30° + cos² 30° = 1/4 + 3/4 = 1.
Pregunta: ¿qué ángulo tiene seno igual a 1/2? Respuesta: 30°.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Muestra la gráfica y explica la diferencia constante. Insiste en que el término n-ésimo usa (n − 1), no n.
Ejemplo para practicar: 2, 9, 16, 23, … con d = 7. El término 15 es a₁₅ = 2 + 14 · 7 = 100.
Pregunta: ¿cuál es la diferencia de la secuencia 50, 42, 34, …? Respuesta: −8.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 la historia de Gauss como una estrategia: emparejar los extremos.
Ejemplo para practicar: 1 + 2 + … + 30. Parejas: 1 + 30, 2 + 29, … todas suman 31. Son 15 parejas: 15 · 31 = 465. Con la fórmula: 30 · 31 ÷ 2 = 465.
Pregunta: ¿cuál es la suma de 1 a 50? Respuesta: 1275.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Muestra cómo cada impar agrega una capa en L a un cuadrado. Eso explica por qué la suma es n².
Ejemplo para practicar: 1 + 3 + 5 + … + 21, que son 11 impares. La suma es 11² = 121.
Pregunta: ¿cuántos impares hay entre 1 y 99? Respuesta: 50.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Repasa los errores típicos de la semana y el del modo de la calculadora.
Ejemplo para practicar: al calcular sen 30 sin cambiar a grados, el resultado no es 0.5. Pide que revisen el modo de su calculadora antes de cada examen.
Otro error: aplicar n · d en la secuencia. Con 3, 7, 11, el décimo término es 39, no 40.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Repasa las cuatro familias de fórmulas y pide que las conecten entre sí.
Pregunta de repaso: ¿cuánto suman los ángulos internos de un octágono? Respuesta: 1080°.
Cierre: esta clase introduce las fórmulas de geometría que después se programarán en C++ con la biblioteca cmath.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Cierra con la pregunta de la diapositiva: si un ángulo agudo mide 35°, el otro agudo mide 90 − 35 = 55°.
Pide a un alumno que explique por qué ambos suman 90° en un triángulo rectángulo.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F3E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6035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Geometría, trigonometría y patrones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92608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3 · Bloque 1 · Triángulos, Pitágoras, distancia, SOH-CAH-TOA y secuencias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C4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6949440" y="1371600"/>
            <a:ext cx="1645920" cy="1645920"/>
          </a:xfrm>
          <a:prstGeom prst="ellipse">
            <a:avLst/>
          </a:prstGeom>
          <a:solidFill>
            <a:srgbClr val="E39B6B"/>
          </a:solidFill>
          <a:ln w="12700">
            <a:solidFill>
              <a:srgbClr val="E39B6B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93838" y="1815998"/>
            <a:ext cx="757123" cy="75712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ángulos de un triángulo suman 180°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juntas sus esquinas, forman una línea recta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2651760" y="1737360"/>
            <a:ext cx="3840480" cy="2560320"/>
          </a:xfrm>
          <a:prstGeom prst="triangle">
            <a:avLst/>
          </a:prstGeom>
          <a:solidFill>
            <a:srgbClr val="DDE8F3"/>
          </a:solidFill>
          <a:ln w="25400">
            <a:solidFill>
              <a:srgbClr val="4F7CA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743200" y="3840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50°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5486400" y="3840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60°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4114800" y="14630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70°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548640" y="4434840"/>
            <a:ext cx="8046720" cy="274320"/>
          </a:xfrm>
          <a:prstGeom prst="roundRect">
            <a:avLst>
              <a:gd name="adj" fmla="val 40000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44348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50° + 60° + 70° = 180°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Suma de ángulos en polígonos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Fórmula: (n − 2) · 180°, donde n es el número de lados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548640" y="164592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DDE8F3"/>
          </a:solidFill>
          <a:ln w="12700">
            <a:solidFill>
              <a:srgbClr val="DDE8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19202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Triángulo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77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lados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9260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180°</a:t>
            </a:r>
            <a:endParaRPr lang="en-US" sz="3400" dirty="0"/>
          </a:p>
        </p:txBody>
      </p:sp>
      <p:sp>
        <p:nvSpPr>
          <p:cNvPr id="10" name="Shape 7"/>
          <p:cNvSpPr/>
          <p:nvPr/>
        </p:nvSpPr>
        <p:spPr>
          <a:xfrm>
            <a:off x="3291840" y="164592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E1F0E7"/>
          </a:solidFill>
          <a:ln w="12700">
            <a:solidFill>
              <a:srgbClr val="E1F0E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566160" y="19202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Cuadrilátero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3566160" y="2377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lados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3566160" y="29260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360°</a:t>
            </a:r>
            <a:endParaRPr lang="en-US" sz="3400" dirty="0"/>
          </a:p>
        </p:txBody>
      </p:sp>
      <p:sp>
        <p:nvSpPr>
          <p:cNvPr id="14" name="Shape 11"/>
          <p:cNvSpPr/>
          <p:nvPr/>
        </p:nvSpPr>
        <p:spPr>
          <a:xfrm>
            <a:off x="6035040" y="164592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FBEADC"/>
          </a:solidFill>
          <a:ln w="12700">
            <a:solidFill>
              <a:srgbClr val="FBEAD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09360" y="19202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Pentágono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6309360" y="2377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lados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309360" y="29260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540°</a:t>
            </a:r>
            <a:endParaRPr lang="en-US" sz="3400" dirty="0"/>
          </a:p>
        </p:txBody>
      </p:sp>
      <p:sp>
        <p:nvSpPr>
          <p:cNvPr id="18" name="Shape 15"/>
          <p:cNvSpPr/>
          <p:nvPr/>
        </p:nvSpPr>
        <p:spPr>
          <a:xfrm>
            <a:off x="548640" y="4434840"/>
            <a:ext cx="8046720" cy="320040"/>
          </a:xfrm>
          <a:prstGeom prst="roundRect">
            <a:avLst>
              <a:gd name="adj" fmla="val 34286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lado adicional suma 180° más a la suma total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Ángulos complementarios y suplementarios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ángulos que suman un valor fijo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548640" y="1645920"/>
            <a:ext cx="3749040" cy="2651760"/>
          </a:xfrm>
          <a:prstGeom prst="roundRect">
            <a:avLst>
              <a:gd name="adj" fmla="val 4138"/>
            </a:avLst>
          </a:prstGeom>
          <a:solidFill>
            <a:srgbClr val="E1F0E7"/>
          </a:solidFill>
          <a:ln w="12700">
            <a:solidFill>
              <a:srgbClr val="E1F0E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22960" y="1920240"/>
            <a:ext cx="731520" cy="731520"/>
          </a:xfrm>
          <a:prstGeom prst="ellipse">
            <a:avLst/>
          </a:prstGeom>
          <a:solidFill>
            <a:srgbClr val="6FA287"/>
          </a:solidFill>
          <a:ln w="12700">
            <a:solidFill>
              <a:srgbClr val="6FA287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0470" y="2117750"/>
            <a:ext cx="336499" cy="336499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22960" y="28346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Complementarios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29184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Suman 90°: por ejemplo 30° y 60°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4846320" y="1645920"/>
            <a:ext cx="3749040" cy="2651760"/>
          </a:xfrm>
          <a:prstGeom prst="roundRect">
            <a:avLst>
              <a:gd name="adj" fmla="val 4138"/>
            </a:avLst>
          </a:prstGeom>
          <a:solidFill>
            <a:srgbClr val="ECE8F6"/>
          </a:solidFill>
          <a:ln w="12700">
            <a:solidFill>
              <a:srgbClr val="ECE8F6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120640" y="1920240"/>
            <a:ext cx="731520" cy="731520"/>
          </a:xfrm>
          <a:prstGeom prst="ellipse">
            <a:avLst/>
          </a:prstGeom>
          <a:solidFill>
            <a:srgbClr val="8E7FBF"/>
          </a:solidFill>
          <a:ln w="12700">
            <a:solidFill>
              <a:srgbClr val="8E7FBF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8150" y="2117750"/>
            <a:ext cx="336499" cy="336499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120640" y="28346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Suplementarios</a:t>
            </a:r>
            <a:endParaRPr lang="en-US" sz="2000" dirty="0"/>
          </a:p>
        </p:txBody>
      </p:sp>
      <p:sp>
        <p:nvSpPr>
          <p:cNvPr id="15" name="Text 10"/>
          <p:cNvSpPr txBox="1"/>
          <p:nvPr/>
        </p:nvSpPr>
        <p:spPr>
          <a:xfrm>
            <a:off x="5120640" y="329184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Suman 180°: por ejemplo 110° y 70°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Teorema de Pitágoras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un triángulo rectángulo: a² + b² = c²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914400" y="1828800"/>
            <a:ext cx="3840480" cy="2560320"/>
          </a:xfrm>
          <a:prstGeom prst="rtTriangle">
            <a:avLst/>
          </a:prstGeom>
          <a:solidFill>
            <a:srgbClr val="E1F0E7"/>
          </a:solidFill>
          <a:ln w="25400">
            <a:solidFill>
              <a:srgbClr val="6FA28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29260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6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2377440" y="44805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= 8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3566160" y="2194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= 10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120640" y="1828800"/>
            <a:ext cx="3474720" cy="2560320"/>
          </a:xfrm>
          <a:prstGeom prst="roundRect">
            <a:avLst>
              <a:gd name="adj" fmla="val 4286"/>
            </a:avLst>
          </a:prstGeom>
          <a:solidFill>
            <a:srgbClr val="EEF3F8"/>
          </a:solidFill>
          <a:ln w="12700">
            <a:solidFill>
              <a:srgbClr val="EEF3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394960" y="21031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6² + 8² = c²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5394960" y="26517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+ 64 = 100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5394960" y="32004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4F7C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= √100 = 10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5394960" y="38404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despejar un cateto: b² = c² − a²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Distancia entre dos puntos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Pitágoras aplicado a las diferencias en x y en y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4206240"/>
            <a:ext cx="4206240" cy="0"/>
          </a:xfrm>
          <a:prstGeom prst="line">
            <a:avLst/>
          </a:prstGeom>
          <a:noFill/>
          <a:ln w="12700">
            <a:solidFill>
              <a:srgbClr val="5F6E8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97280" y="1463040"/>
            <a:ext cx="0" cy="3108960"/>
          </a:xfrm>
          <a:prstGeom prst="line">
            <a:avLst/>
          </a:prstGeom>
          <a:noFill/>
          <a:ln w="12700">
            <a:solidFill>
              <a:srgbClr val="5F6E8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554480" y="3291840"/>
            <a:ext cx="1371600" cy="0"/>
          </a:xfrm>
          <a:prstGeom prst="line">
            <a:avLst/>
          </a:prstGeom>
          <a:noFill/>
          <a:ln w="25400">
            <a:solidFill>
              <a:srgbClr val="E39B6B"/>
            </a:solidFill>
            <a:prstDash val="dash"/>
          </a:ln>
        </p:spPr>
      </p:sp>
      <p:sp>
        <p:nvSpPr>
          <p:cNvPr id="9" name="Shape 6"/>
          <p:cNvSpPr/>
          <p:nvPr/>
        </p:nvSpPr>
        <p:spPr>
          <a:xfrm>
            <a:off x="2926080" y="1463040"/>
            <a:ext cx="0" cy="1828800"/>
          </a:xfrm>
          <a:prstGeom prst="line">
            <a:avLst/>
          </a:prstGeom>
          <a:noFill/>
          <a:ln w="25400">
            <a:solidFill>
              <a:srgbClr val="E39B6B"/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 flipV="1">
            <a:off x="1554480" y="1463040"/>
            <a:ext cx="1371600" cy="1828800"/>
          </a:xfrm>
          <a:prstGeom prst="line">
            <a:avLst/>
          </a:prstGeom>
          <a:noFill/>
          <a:ln w="31750">
            <a:solidFill>
              <a:srgbClr val="4F7CA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481328" y="3218688"/>
            <a:ext cx="146304" cy="146304"/>
          </a:xfrm>
          <a:prstGeom prst="ellipse">
            <a:avLst/>
          </a:prstGeom>
          <a:solidFill>
            <a:srgbClr val="2F3E4E"/>
          </a:solidFill>
          <a:ln w="12700">
            <a:solidFill>
              <a:srgbClr val="2F3E4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852928" y="1389888"/>
            <a:ext cx="146304" cy="146304"/>
          </a:xfrm>
          <a:prstGeom prst="ellipse">
            <a:avLst/>
          </a:prstGeom>
          <a:solidFill>
            <a:srgbClr val="2F3E4E"/>
          </a:solidFill>
          <a:ln w="12700">
            <a:solidFill>
              <a:srgbClr val="2F3E4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14400" y="3429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(1, 2)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017520" y="12344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(4, 6)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120640" y="1645920"/>
            <a:ext cx="3474720" cy="2651760"/>
          </a:xfrm>
          <a:prstGeom prst="roundRect">
            <a:avLst>
              <a:gd name="adj" fmla="val 4138"/>
            </a:avLst>
          </a:prstGeom>
          <a:solidFill>
            <a:srgbClr val="DDE8F3"/>
          </a:solidFill>
          <a:ln w="12700">
            <a:solidFill>
              <a:srgbClr val="DDE8F3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394960" y="19202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= √((4 − 1)² + (6 − 2)²)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5394960" y="2560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= √(9 + 16)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5394960" y="31089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4F7C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= √25 = 5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Razones trigonométricas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SOH - CAH - TOA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548640" y="164592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DDE8F3"/>
          </a:solidFill>
          <a:ln w="12700">
            <a:solidFill>
              <a:srgbClr val="DDE8F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22960" y="1874520"/>
            <a:ext cx="640080" cy="640080"/>
          </a:xfrm>
          <a:prstGeom prst="ellipse">
            <a:avLst/>
          </a:prstGeom>
          <a:solidFill>
            <a:srgbClr val="4F7CAC"/>
          </a:solidFill>
          <a:ln w="12700">
            <a:solidFill>
              <a:srgbClr val="4F7CAC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782" y="2047342"/>
            <a:ext cx="294437" cy="294437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2296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SOH</a:t>
            </a:r>
            <a:endParaRPr lang="en-US" sz="26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2004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seno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36118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opuesto ÷ hipotenusa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3291840" y="164592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E1F0E7"/>
          </a:solidFill>
          <a:ln w="12700">
            <a:solidFill>
              <a:srgbClr val="E1F0E7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566160" y="1874520"/>
            <a:ext cx="640080" cy="640080"/>
          </a:xfrm>
          <a:prstGeom prst="ellipse">
            <a:avLst/>
          </a:prstGeom>
          <a:solidFill>
            <a:srgbClr val="6FA287"/>
          </a:solidFill>
          <a:ln w="12700">
            <a:solidFill>
              <a:srgbClr val="6FA287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8982" y="2047342"/>
            <a:ext cx="294437" cy="29443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56616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CAH</a:t>
            </a:r>
            <a:endParaRPr lang="en-US" sz="2600" dirty="0"/>
          </a:p>
        </p:txBody>
      </p:sp>
      <p:sp>
        <p:nvSpPr>
          <p:cNvPr id="16" name="Text 11"/>
          <p:cNvSpPr txBox="1"/>
          <p:nvPr/>
        </p:nvSpPr>
        <p:spPr>
          <a:xfrm>
            <a:off x="3566160" y="32004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coseno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3566160" y="36118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adyacente ÷ hipotenusa</a:t>
            </a:r>
            <a:endParaRPr lang="en-US" sz="1500" dirty="0"/>
          </a:p>
        </p:txBody>
      </p:sp>
      <p:sp>
        <p:nvSpPr>
          <p:cNvPr id="18" name="Shape 13"/>
          <p:cNvSpPr/>
          <p:nvPr/>
        </p:nvSpPr>
        <p:spPr>
          <a:xfrm>
            <a:off x="6035040" y="164592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FBEADC"/>
          </a:solidFill>
          <a:ln w="12700">
            <a:solidFill>
              <a:srgbClr val="FBEADC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309360" y="1874520"/>
            <a:ext cx="640080" cy="640080"/>
          </a:xfrm>
          <a:prstGeom prst="ellipse">
            <a:avLst/>
          </a:prstGeom>
          <a:solidFill>
            <a:srgbClr val="E39B6B"/>
          </a:solidFill>
          <a:ln w="12700">
            <a:solidFill>
              <a:srgbClr val="E39B6B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2182" y="2047342"/>
            <a:ext cx="294437" cy="29443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0936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TOA</a:t>
            </a:r>
            <a:endParaRPr lang="en-US" sz="2600" dirty="0"/>
          </a:p>
        </p:txBody>
      </p:sp>
      <p:sp>
        <p:nvSpPr>
          <p:cNvPr id="22" name="Text 16"/>
          <p:cNvSpPr txBox="1"/>
          <p:nvPr/>
        </p:nvSpPr>
        <p:spPr>
          <a:xfrm>
            <a:off x="6309360" y="32004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tangente</a:t>
            </a:r>
            <a:endParaRPr lang="en-US" sz="1800" dirty="0"/>
          </a:p>
        </p:txBody>
      </p:sp>
      <p:sp>
        <p:nvSpPr>
          <p:cNvPr id="23" name="Text 17"/>
          <p:cNvSpPr txBox="1"/>
          <p:nvPr/>
        </p:nvSpPr>
        <p:spPr>
          <a:xfrm>
            <a:off x="6309360" y="36118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opuesto ÷ adyacente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Ejemplo: altura de una escalera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Escalera de 10 m formando 30° con el suelo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914400" y="1828800"/>
            <a:ext cx="3840480" cy="2377440"/>
          </a:xfrm>
          <a:prstGeom prst="rtTriangle">
            <a:avLst/>
          </a:prstGeom>
          <a:solidFill>
            <a:srgbClr val="DDE8F3"/>
          </a:solidFill>
          <a:ln w="25400">
            <a:solidFill>
              <a:srgbClr val="4F7CA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834640" y="27432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4114800" y="37947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30°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82880" y="28346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altura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120640" y="1828800"/>
            <a:ext cx="3474720" cy="2377440"/>
          </a:xfrm>
          <a:prstGeom prst="roundRect">
            <a:avLst>
              <a:gd name="adj" fmla="val 4615"/>
            </a:avLst>
          </a:prstGeom>
          <a:solidFill>
            <a:srgbClr val="E1F0E7"/>
          </a:solidFill>
          <a:ln w="12700">
            <a:solidFill>
              <a:srgbClr val="E1F0E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39496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Seno = opuesto ÷ hipotenusa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5394960" y="26517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altura = 10 · sen 30°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5394960" y="32004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6FA2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10 · 0.5 = 5 m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Valores que conviene memorizar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Ángulos 30°, 45° y 60°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80467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011680"/>
                <a:gridCol w="2011680"/>
                <a:gridCol w="201168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Ángulo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7C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30°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7C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45°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7C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60°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7CA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√2/2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√3/2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√3/2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√2/2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√3/3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√3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3749040"/>
            <a:ext cx="8046720" cy="640080"/>
          </a:xfrm>
          <a:prstGeom prst="roundRect">
            <a:avLst>
              <a:gd name="adj" fmla="val 17143"/>
            </a:avLst>
          </a:prstGeom>
          <a:solidFill>
            <a:srgbClr val="ECE8F6"/>
          </a:solidFill>
          <a:ln w="12700">
            <a:solidFill>
              <a:srgbClr val="ECE8F6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22960" y="374904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ángulo es 45°, el seno y el coseno son iguales.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Patrones: progresión aritmética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 7, 11, 15, 19: cada término suma 4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463040"/>
          <a:ext cx="51206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5943600" y="1645920"/>
            <a:ext cx="2651760" cy="2651760"/>
          </a:xfrm>
          <a:prstGeom prst="roundRect">
            <a:avLst>
              <a:gd name="adj" fmla="val 4138"/>
            </a:avLst>
          </a:prstGeom>
          <a:solidFill>
            <a:srgbClr val="DDE8F3"/>
          </a:solidFill>
          <a:ln w="12700">
            <a:solidFill>
              <a:srgbClr val="DDE8F3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6172200" y="19202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aₙ = a₁ + (n − 1) · d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6172200" y="2743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a₁ = 3, d = 4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6172200" y="32004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F7C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a₁₀ = 3 + 9 · 4 = 39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Suma de 1 a n: idea de Gauss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parejas que suman lo mismo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1097280" cy="438912"/>
          </a:xfrm>
          <a:prstGeom prst="roundRect">
            <a:avLst>
              <a:gd name="adj" fmla="val 25000"/>
            </a:avLst>
          </a:prstGeom>
          <a:solidFill>
            <a:srgbClr val="DDE8F3"/>
          </a:solidFill>
          <a:ln w="12700">
            <a:solidFill>
              <a:srgbClr val="DDE8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737360" y="1554480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2194560" y="1554480"/>
            <a:ext cx="1097280" cy="438912"/>
          </a:xfrm>
          <a:prstGeom prst="roundRect">
            <a:avLst>
              <a:gd name="adj" fmla="val 25000"/>
            </a:avLst>
          </a:prstGeom>
          <a:solidFill>
            <a:srgbClr val="E1F0E7"/>
          </a:solidFill>
          <a:ln w="12700">
            <a:solidFill>
              <a:srgbClr val="E1F0E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194560" y="1554480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3474720" y="1554480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101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103120"/>
            <a:ext cx="1097280" cy="438912"/>
          </a:xfrm>
          <a:prstGeom prst="roundRect">
            <a:avLst>
              <a:gd name="adj" fmla="val 25000"/>
            </a:avLst>
          </a:prstGeom>
          <a:solidFill>
            <a:srgbClr val="DDE8F3"/>
          </a:solidFill>
          <a:ln w="12700">
            <a:solidFill>
              <a:srgbClr val="DDE8F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" y="2103120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1737360" y="2103120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2194560" y="2103120"/>
            <a:ext cx="1097280" cy="438912"/>
          </a:xfrm>
          <a:prstGeom prst="roundRect">
            <a:avLst>
              <a:gd name="adj" fmla="val 25000"/>
            </a:avLst>
          </a:prstGeom>
          <a:solidFill>
            <a:srgbClr val="E1F0E7"/>
          </a:solidFill>
          <a:ln w="12700">
            <a:solidFill>
              <a:srgbClr val="E1F0E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194560" y="2103120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3474720" y="2103120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101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548640" y="2651760"/>
            <a:ext cx="1097280" cy="438912"/>
          </a:xfrm>
          <a:prstGeom prst="roundRect">
            <a:avLst>
              <a:gd name="adj" fmla="val 25000"/>
            </a:avLst>
          </a:prstGeom>
          <a:solidFill>
            <a:srgbClr val="DDE8F3"/>
          </a:solidFill>
          <a:ln w="12700">
            <a:solidFill>
              <a:srgbClr val="DDE8F3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2651760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1737360" y="2651760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2194560" y="2651760"/>
            <a:ext cx="1097280" cy="438912"/>
          </a:xfrm>
          <a:prstGeom prst="roundRect">
            <a:avLst>
              <a:gd name="adj" fmla="val 25000"/>
            </a:avLst>
          </a:prstGeom>
          <a:solidFill>
            <a:srgbClr val="E1F0E7"/>
          </a:solidFill>
          <a:ln w="12700">
            <a:solidFill>
              <a:srgbClr val="E1F0E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194560" y="2651760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3474720" y="2651760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101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548640" y="3200400"/>
            <a:ext cx="1097280" cy="438912"/>
          </a:xfrm>
          <a:prstGeom prst="roundRect">
            <a:avLst>
              <a:gd name="adj" fmla="val 25000"/>
            </a:avLst>
          </a:prstGeom>
          <a:solidFill>
            <a:srgbClr val="DDE8F3"/>
          </a:solidFill>
          <a:ln w="12700">
            <a:solidFill>
              <a:srgbClr val="DDE8F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3200400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1737360" y="3200400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2194560" y="3200400"/>
            <a:ext cx="1097280" cy="438912"/>
          </a:xfrm>
          <a:prstGeom prst="roundRect">
            <a:avLst>
              <a:gd name="adj" fmla="val 25000"/>
            </a:avLst>
          </a:prstGeom>
          <a:solidFill>
            <a:srgbClr val="E1F0E7"/>
          </a:solidFill>
          <a:ln w="12700">
            <a:solidFill>
              <a:srgbClr val="E1F0E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194560" y="3200400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3474720" y="3200400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101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548640" y="3749040"/>
            <a:ext cx="1097280" cy="438912"/>
          </a:xfrm>
          <a:prstGeom prst="roundRect">
            <a:avLst>
              <a:gd name="adj" fmla="val 25000"/>
            </a:avLst>
          </a:prstGeom>
          <a:solidFill>
            <a:srgbClr val="DDE8F3"/>
          </a:solidFill>
          <a:ln w="12700">
            <a:solidFill>
              <a:srgbClr val="DDE8F3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48640" y="3749040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1737360" y="3749040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2194560" y="3749040"/>
            <a:ext cx="1097280" cy="438912"/>
          </a:xfrm>
          <a:prstGeom prst="roundRect">
            <a:avLst>
              <a:gd name="adj" fmla="val 25000"/>
            </a:avLst>
          </a:prstGeom>
          <a:solidFill>
            <a:srgbClr val="E1F0E7"/>
          </a:solidFill>
          <a:ln w="12700">
            <a:solidFill>
              <a:srgbClr val="E1F0E7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194560" y="3749040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</a:t>
            </a:r>
            <a:endParaRPr lang="en-US" sz="1800" dirty="0"/>
          </a:p>
        </p:txBody>
      </p:sp>
      <p:sp>
        <p:nvSpPr>
          <p:cNvPr id="35" name="Text 32"/>
          <p:cNvSpPr txBox="1"/>
          <p:nvPr/>
        </p:nvSpPr>
        <p:spPr>
          <a:xfrm>
            <a:off x="3474720" y="3749040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101</a:t>
            </a:r>
            <a:endParaRPr lang="en-US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548640" y="4343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50 parejas en total</a:t>
            </a:r>
            <a:endParaRPr lang="en-US" sz="1600" dirty="0"/>
          </a:p>
        </p:txBody>
      </p:sp>
      <p:sp>
        <p:nvSpPr>
          <p:cNvPr id="37" name="Shape 34"/>
          <p:cNvSpPr/>
          <p:nvPr/>
        </p:nvSpPr>
        <p:spPr>
          <a:xfrm>
            <a:off x="4846320" y="1554480"/>
            <a:ext cx="3749040" cy="2926080"/>
          </a:xfrm>
          <a:prstGeom prst="roundRect">
            <a:avLst>
              <a:gd name="adj" fmla="val 3750"/>
            </a:avLst>
          </a:prstGeom>
          <a:solidFill>
            <a:srgbClr val="FBEADC"/>
          </a:solidFill>
          <a:ln w="12700">
            <a:solidFill>
              <a:srgbClr val="FBEADC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120640" y="18288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+ 2 + … + n</a:t>
            </a:r>
            <a:endParaRPr lang="en-US" sz="2000" dirty="0"/>
          </a:p>
        </p:txBody>
      </p:sp>
      <p:sp>
        <p:nvSpPr>
          <p:cNvPr id="39" name="Text 36"/>
          <p:cNvSpPr txBox="1"/>
          <p:nvPr/>
        </p:nvSpPr>
        <p:spPr>
          <a:xfrm>
            <a:off x="5120640" y="24688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E39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· (n + 1) ÷ 2</a:t>
            </a:r>
            <a:endParaRPr lang="en-US" sz="2600" dirty="0"/>
          </a:p>
        </p:txBody>
      </p:sp>
      <p:sp>
        <p:nvSpPr>
          <p:cNvPr id="40" name="Text 37"/>
          <p:cNvSpPr txBox="1"/>
          <p:nvPr/>
        </p:nvSpPr>
        <p:spPr>
          <a:xfrm>
            <a:off x="5120640" y="329184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n = 100: 100 · 101 ÷ 2 = 5 050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Suma de impares: n²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+ 3 + 5 + … + (2n − 1) = n²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731520" y="3273552"/>
            <a:ext cx="347472" cy="347472"/>
          </a:xfrm>
          <a:prstGeom prst="rect">
            <a:avLst/>
          </a:prstGeom>
          <a:solidFill>
            <a:srgbClr val="4F7CAC"/>
          </a:solidFill>
          <a:ln w="12700">
            <a:solidFill>
              <a:srgbClr val="4F7CA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3749040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2743200" y="2889504"/>
            <a:ext cx="347472" cy="347472"/>
          </a:xfrm>
          <a:prstGeom prst="rect">
            <a:avLst/>
          </a:prstGeom>
          <a:solidFill>
            <a:srgbClr val="6FA287"/>
          </a:solidFill>
          <a:ln w="12700">
            <a:solidFill>
              <a:srgbClr val="6FA28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127248" y="2889504"/>
            <a:ext cx="347472" cy="347472"/>
          </a:xfrm>
          <a:prstGeom prst="rect">
            <a:avLst/>
          </a:prstGeom>
          <a:solidFill>
            <a:srgbClr val="6FA287"/>
          </a:solidFill>
          <a:ln w="12700">
            <a:solidFill>
              <a:srgbClr val="6FA28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743200" y="3273552"/>
            <a:ext cx="347472" cy="347472"/>
          </a:xfrm>
          <a:prstGeom prst="rect">
            <a:avLst/>
          </a:prstGeom>
          <a:solidFill>
            <a:srgbClr val="6FA287"/>
          </a:solidFill>
          <a:ln w="12700">
            <a:solidFill>
              <a:srgbClr val="6FA28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127248" y="3273552"/>
            <a:ext cx="347472" cy="347472"/>
          </a:xfrm>
          <a:prstGeom prst="rect">
            <a:avLst/>
          </a:prstGeom>
          <a:solidFill>
            <a:srgbClr val="6FA287"/>
          </a:solidFill>
          <a:ln w="12700">
            <a:solidFill>
              <a:srgbClr val="6FA28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743200" y="3749040"/>
            <a:ext cx="768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754880" y="2505456"/>
            <a:ext cx="347472" cy="347472"/>
          </a:xfrm>
          <a:prstGeom prst="rect">
            <a:avLst/>
          </a:prstGeom>
          <a:solidFill>
            <a:srgbClr val="E39B6B"/>
          </a:solidFill>
          <a:ln w="12700">
            <a:solidFill>
              <a:srgbClr val="E39B6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138928" y="2505456"/>
            <a:ext cx="347472" cy="347472"/>
          </a:xfrm>
          <a:prstGeom prst="rect">
            <a:avLst/>
          </a:prstGeom>
          <a:solidFill>
            <a:srgbClr val="E39B6B"/>
          </a:solidFill>
          <a:ln w="12700">
            <a:solidFill>
              <a:srgbClr val="E39B6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522976" y="2505456"/>
            <a:ext cx="347472" cy="347472"/>
          </a:xfrm>
          <a:prstGeom prst="rect">
            <a:avLst/>
          </a:prstGeom>
          <a:solidFill>
            <a:srgbClr val="E39B6B"/>
          </a:solidFill>
          <a:ln w="12700">
            <a:solidFill>
              <a:srgbClr val="E39B6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754880" y="2889504"/>
            <a:ext cx="347472" cy="347472"/>
          </a:xfrm>
          <a:prstGeom prst="rect">
            <a:avLst/>
          </a:prstGeom>
          <a:solidFill>
            <a:srgbClr val="E39B6B"/>
          </a:solidFill>
          <a:ln w="12700">
            <a:solidFill>
              <a:srgbClr val="E39B6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138928" y="2889504"/>
            <a:ext cx="347472" cy="347472"/>
          </a:xfrm>
          <a:prstGeom prst="rect">
            <a:avLst/>
          </a:prstGeom>
          <a:solidFill>
            <a:srgbClr val="E39B6B"/>
          </a:solidFill>
          <a:ln w="12700">
            <a:solidFill>
              <a:srgbClr val="E39B6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522976" y="2889504"/>
            <a:ext cx="347472" cy="347472"/>
          </a:xfrm>
          <a:prstGeom prst="rect">
            <a:avLst/>
          </a:prstGeom>
          <a:solidFill>
            <a:srgbClr val="E39B6B"/>
          </a:solidFill>
          <a:ln w="12700">
            <a:solidFill>
              <a:srgbClr val="E39B6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754880" y="3273552"/>
            <a:ext cx="347472" cy="347472"/>
          </a:xfrm>
          <a:prstGeom prst="rect">
            <a:avLst/>
          </a:prstGeom>
          <a:solidFill>
            <a:srgbClr val="E39B6B"/>
          </a:solidFill>
          <a:ln w="12700">
            <a:solidFill>
              <a:srgbClr val="E39B6B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138928" y="3273552"/>
            <a:ext cx="347472" cy="347472"/>
          </a:xfrm>
          <a:prstGeom prst="rect">
            <a:avLst/>
          </a:prstGeom>
          <a:solidFill>
            <a:srgbClr val="E39B6B"/>
          </a:solidFill>
          <a:ln w="12700">
            <a:solidFill>
              <a:srgbClr val="E39B6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522976" y="3273552"/>
            <a:ext cx="347472" cy="347472"/>
          </a:xfrm>
          <a:prstGeom prst="rect">
            <a:avLst/>
          </a:prstGeom>
          <a:solidFill>
            <a:srgbClr val="E39B6B"/>
          </a:solidFill>
          <a:ln w="12700">
            <a:solidFill>
              <a:srgbClr val="E39B6B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754880" y="3749040"/>
            <a:ext cx="1152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6766560" y="2121408"/>
            <a:ext cx="347472" cy="347472"/>
          </a:xfrm>
          <a:prstGeom prst="rect">
            <a:avLst/>
          </a:prstGeom>
          <a:solidFill>
            <a:srgbClr val="8E7FBF"/>
          </a:solidFill>
          <a:ln w="12700">
            <a:solidFill>
              <a:srgbClr val="8E7FB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150608" y="2121408"/>
            <a:ext cx="347472" cy="347472"/>
          </a:xfrm>
          <a:prstGeom prst="rect">
            <a:avLst/>
          </a:prstGeom>
          <a:solidFill>
            <a:srgbClr val="8E7FBF"/>
          </a:solidFill>
          <a:ln w="12700">
            <a:solidFill>
              <a:srgbClr val="8E7FB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534656" y="2121408"/>
            <a:ext cx="347472" cy="347472"/>
          </a:xfrm>
          <a:prstGeom prst="rect">
            <a:avLst/>
          </a:prstGeom>
          <a:solidFill>
            <a:srgbClr val="8E7FBF"/>
          </a:solidFill>
          <a:ln w="12700">
            <a:solidFill>
              <a:srgbClr val="8E7FB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918704" y="2121408"/>
            <a:ext cx="347472" cy="347472"/>
          </a:xfrm>
          <a:prstGeom prst="rect">
            <a:avLst/>
          </a:prstGeom>
          <a:solidFill>
            <a:srgbClr val="8E7FBF"/>
          </a:solidFill>
          <a:ln w="12700">
            <a:solidFill>
              <a:srgbClr val="8E7FB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766560" y="2505456"/>
            <a:ext cx="347472" cy="347472"/>
          </a:xfrm>
          <a:prstGeom prst="rect">
            <a:avLst/>
          </a:prstGeom>
          <a:solidFill>
            <a:srgbClr val="8E7FBF"/>
          </a:solidFill>
          <a:ln w="12700">
            <a:solidFill>
              <a:srgbClr val="8E7FB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150608" y="2505456"/>
            <a:ext cx="347472" cy="347472"/>
          </a:xfrm>
          <a:prstGeom prst="rect">
            <a:avLst/>
          </a:prstGeom>
          <a:solidFill>
            <a:srgbClr val="8E7FBF"/>
          </a:solidFill>
          <a:ln w="12700">
            <a:solidFill>
              <a:srgbClr val="8E7FB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534656" y="2505456"/>
            <a:ext cx="347472" cy="347472"/>
          </a:xfrm>
          <a:prstGeom prst="rect">
            <a:avLst/>
          </a:prstGeom>
          <a:solidFill>
            <a:srgbClr val="8E7FBF"/>
          </a:solidFill>
          <a:ln w="12700">
            <a:solidFill>
              <a:srgbClr val="8E7FB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918704" y="2505456"/>
            <a:ext cx="347472" cy="347472"/>
          </a:xfrm>
          <a:prstGeom prst="rect">
            <a:avLst/>
          </a:prstGeom>
          <a:solidFill>
            <a:srgbClr val="8E7FBF"/>
          </a:solidFill>
          <a:ln w="12700">
            <a:solidFill>
              <a:srgbClr val="8E7FBF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766560" y="2889504"/>
            <a:ext cx="347472" cy="347472"/>
          </a:xfrm>
          <a:prstGeom prst="rect">
            <a:avLst/>
          </a:prstGeom>
          <a:solidFill>
            <a:srgbClr val="8E7FBF"/>
          </a:solidFill>
          <a:ln w="12700">
            <a:solidFill>
              <a:srgbClr val="8E7FB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7150608" y="2889504"/>
            <a:ext cx="347472" cy="347472"/>
          </a:xfrm>
          <a:prstGeom prst="rect">
            <a:avLst/>
          </a:prstGeom>
          <a:solidFill>
            <a:srgbClr val="8E7FBF"/>
          </a:solidFill>
          <a:ln w="12700">
            <a:solidFill>
              <a:srgbClr val="8E7FB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534656" y="2889504"/>
            <a:ext cx="347472" cy="347472"/>
          </a:xfrm>
          <a:prstGeom prst="rect">
            <a:avLst/>
          </a:prstGeom>
          <a:solidFill>
            <a:srgbClr val="8E7FBF"/>
          </a:solidFill>
          <a:ln w="12700">
            <a:solidFill>
              <a:srgbClr val="8E7FB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918704" y="2889504"/>
            <a:ext cx="347472" cy="347472"/>
          </a:xfrm>
          <a:prstGeom prst="rect">
            <a:avLst/>
          </a:prstGeom>
          <a:solidFill>
            <a:srgbClr val="8E7FBF"/>
          </a:solidFill>
          <a:ln w="12700">
            <a:solidFill>
              <a:srgbClr val="8E7FBF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6766560" y="3273552"/>
            <a:ext cx="347472" cy="347472"/>
          </a:xfrm>
          <a:prstGeom prst="rect">
            <a:avLst/>
          </a:prstGeom>
          <a:solidFill>
            <a:srgbClr val="8E7FBF"/>
          </a:solidFill>
          <a:ln w="12700">
            <a:solidFill>
              <a:srgbClr val="8E7FBF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150608" y="3273552"/>
            <a:ext cx="347472" cy="347472"/>
          </a:xfrm>
          <a:prstGeom prst="rect">
            <a:avLst/>
          </a:prstGeom>
          <a:solidFill>
            <a:srgbClr val="8E7FBF"/>
          </a:solidFill>
          <a:ln w="12700">
            <a:solidFill>
              <a:srgbClr val="8E7FBF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534656" y="3273552"/>
            <a:ext cx="347472" cy="347472"/>
          </a:xfrm>
          <a:prstGeom prst="rect">
            <a:avLst/>
          </a:prstGeom>
          <a:solidFill>
            <a:srgbClr val="8E7FBF"/>
          </a:solidFill>
          <a:ln w="12700">
            <a:solidFill>
              <a:srgbClr val="8E7FBF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918704" y="3273552"/>
            <a:ext cx="347472" cy="347472"/>
          </a:xfrm>
          <a:prstGeom prst="rect">
            <a:avLst/>
          </a:prstGeom>
          <a:solidFill>
            <a:srgbClr val="8E7FBF"/>
          </a:solidFill>
          <a:ln w="12700">
            <a:solidFill>
              <a:srgbClr val="8E7FBF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766560" y="3749040"/>
            <a:ext cx="1536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731520" y="42062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= 1²      1 + 3 = 2²      1 + 3 + 5 = 3²      1 + 3 + 5 + 7 = 4²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Errores frecuentes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Revísalos antes del examen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548640" cy="548640"/>
          </a:xfrm>
          <a:prstGeom prst="ellipse">
            <a:avLst/>
          </a:prstGeom>
          <a:solidFill>
            <a:srgbClr val="E39B6B"/>
          </a:solidFill>
          <a:ln w="12700">
            <a:solidFill>
              <a:srgbClr val="E39B6B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773" y="1702613"/>
            <a:ext cx="252374" cy="25237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155448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Creer que los ángulos de un triángulo suman 360° (suman 180°)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331720"/>
            <a:ext cx="548640" cy="548640"/>
          </a:xfrm>
          <a:prstGeom prst="ellipse">
            <a:avLst/>
          </a:prstGeom>
          <a:solidFill>
            <a:srgbClr val="E39B6B"/>
          </a:solidFill>
          <a:ln w="12700">
            <a:solidFill>
              <a:srgbClr val="E39B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773" y="2479853"/>
            <a:ext cx="252374" cy="25237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71600" y="233172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Despejar un cateto sumando en vez de restando: b² = c² − a²</a:t>
            </a:r>
            <a:endParaRPr lang="en-US" sz="1700" dirty="0"/>
          </a:p>
        </p:txBody>
      </p:sp>
      <p:sp>
        <p:nvSpPr>
          <p:cNvPr id="12" name="Shape 7"/>
          <p:cNvSpPr/>
          <p:nvPr/>
        </p:nvSpPr>
        <p:spPr>
          <a:xfrm>
            <a:off x="548640" y="3108960"/>
            <a:ext cx="548640" cy="548640"/>
          </a:xfrm>
          <a:prstGeom prst="ellipse">
            <a:avLst/>
          </a:prstGeom>
          <a:solidFill>
            <a:srgbClr val="E39B6B"/>
          </a:solidFill>
          <a:ln w="12700">
            <a:solidFill>
              <a:srgbClr val="E39B6B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773" y="3257093"/>
            <a:ext cx="252374" cy="25237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371600" y="310896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la calculadora en radianes cuando el problema está en grados</a:t>
            </a:r>
            <a:endParaRPr lang="en-US" sz="1700" dirty="0"/>
          </a:p>
        </p:txBody>
      </p:sp>
      <p:sp>
        <p:nvSpPr>
          <p:cNvPr id="15" name="Shape 9"/>
          <p:cNvSpPr/>
          <p:nvPr/>
        </p:nvSpPr>
        <p:spPr>
          <a:xfrm>
            <a:off x="548640" y="3886200"/>
            <a:ext cx="548640" cy="548640"/>
          </a:xfrm>
          <a:prstGeom prst="ellipse">
            <a:avLst/>
          </a:prstGeom>
          <a:solidFill>
            <a:srgbClr val="E39B6B"/>
          </a:solidFill>
          <a:ln w="12700">
            <a:solidFill>
              <a:srgbClr val="E39B6B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773" y="4034333"/>
            <a:ext cx="252374" cy="252374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371600" y="388620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n · d en lugar de (n − 1) · d en las secuencias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Resumen de la clase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828800" cy="2743200"/>
          </a:xfrm>
          <a:prstGeom prst="roundRect">
            <a:avLst>
              <a:gd name="adj" fmla="val 6000"/>
            </a:avLst>
          </a:prstGeom>
          <a:solidFill>
            <a:srgbClr val="DDE8F3"/>
          </a:solidFill>
          <a:ln w="12700">
            <a:solidFill>
              <a:srgbClr val="DDE8F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097280" y="1828800"/>
            <a:ext cx="731520" cy="731520"/>
          </a:xfrm>
          <a:prstGeom prst="ellipse">
            <a:avLst/>
          </a:prstGeom>
          <a:solidFill>
            <a:srgbClr val="4F7CAC"/>
          </a:solidFill>
          <a:ln w="12700">
            <a:solidFill>
              <a:srgbClr val="4F7CA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4790" y="2026310"/>
            <a:ext cx="336499" cy="336499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30175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Triángulos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731520" y="34747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180° y (n − 2) · 180°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2587752" y="1554480"/>
            <a:ext cx="1828800" cy="2743200"/>
          </a:xfrm>
          <a:prstGeom prst="roundRect">
            <a:avLst>
              <a:gd name="adj" fmla="val 6000"/>
            </a:avLst>
          </a:prstGeom>
          <a:solidFill>
            <a:srgbClr val="E1F0E7"/>
          </a:solidFill>
          <a:ln w="12700">
            <a:solidFill>
              <a:srgbClr val="E1F0E7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136392" y="1828800"/>
            <a:ext cx="731520" cy="731520"/>
          </a:xfrm>
          <a:prstGeom prst="ellipse">
            <a:avLst/>
          </a:prstGeom>
          <a:solidFill>
            <a:srgbClr val="6FA287"/>
          </a:solidFill>
          <a:ln w="12700">
            <a:solidFill>
              <a:srgbClr val="6FA287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3902" y="2026310"/>
            <a:ext cx="336499" cy="33649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770632" y="30175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Pitágoras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2770632" y="34747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a² + b² = c²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4626864" y="1554480"/>
            <a:ext cx="1828800" cy="2743200"/>
          </a:xfrm>
          <a:prstGeom prst="roundRect">
            <a:avLst>
              <a:gd name="adj" fmla="val 6000"/>
            </a:avLst>
          </a:prstGeom>
          <a:solidFill>
            <a:srgbClr val="FBEADC"/>
          </a:solidFill>
          <a:ln w="12700">
            <a:solidFill>
              <a:srgbClr val="FBEADC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5175504" y="1828800"/>
            <a:ext cx="731520" cy="731520"/>
          </a:xfrm>
          <a:prstGeom prst="ellipse">
            <a:avLst/>
          </a:prstGeom>
          <a:solidFill>
            <a:srgbClr val="E39B6B"/>
          </a:solidFill>
          <a:ln w="12700">
            <a:solidFill>
              <a:srgbClr val="E39B6B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3014" y="2026310"/>
            <a:ext cx="336499" cy="33649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4809744" y="30175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Trigonometría</a:t>
            </a:r>
            <a:endParaRPr lang="en-US" sz="1700" dirty="0"/>
          </a:p>
        </p:txBody>
      </p:sp>
      <p:sp>
        <p:nvSpPr>
          <p:cNvPr id="19" name="Text 13"/>
          <p:cNvSpPr txBox="1"/>
          <p:nvPr/>
        </p:nvSpPr>
        <p:spPr>
          <a:xfrm>
            <a:off x="4809744" y="34747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SOH-CAH-TOA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6665976" y="1554480"/>
            <a:ext cx="1828800" cy="2743200"/>
          </a:xfrm>
          <a:prstGeom prst="roundRect">
            <a:avLst>
              <a:gd name="adj" fmla="val 6000"/>
            </a:avLst>
          </a:prstGeom>
          <a:solidFill>
            <a:srgbClr val="ECE8F6"/>
          </a:solidFill>
          <a:ln w="12700">
            <a:solidFill>
              <a:srgbClr val="ECE8F6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7214616" y="1828800"/>
            <a:ext cx="731520" cy="731520"/>
          </a:xfrm>
          <a:prstGeom prst="ellipse">
            <a:avLst/>
          </a:prstGeom>
          <a:solidFill>
            <a:srgbClr val="8E7FBF"/>
          </a:solidFill>
          <a:ln w="12700">
            <a:solidFill>
              <a:srgbClr val="8E7FBF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2126" y="2026310"/>
            <a:ext cx="336499" cy="336499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48856" y="30175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Patrones</a:t>
            </a:r>
            <a:endParaRPr lang="en-US" sz="1700" dirty="0"/>
          </a:p>
        </p:txBody>
      </p:sp>
      <p:sp>
        <p:nvSpPr>
          <p:cNvPr id="24" name="Text 17"/>
          <p:cNvSpPr txBox="1"/>
          <p:nvPr/>
        </p:nvSpPr>
        <p:spPr>
          <a:xfrm>
            <a:off x="6848856" y="34747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aₙ = a₁ + (n − 1) · d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F3E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6035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 un ángulo agudo mide 35°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92608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¿cuánto mide el otro ángulo agudo de un triángulo rectángulo?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C4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6949440" y="1371600"/>
            <a:ext cx="1645920" cy="1645920"/>
          </a:xfrm>
          <a:prstGeom prst="ellipse">
            <a:avLst/>
          </a:prstGeom>
          <a:solidFill>
            <a:srgbClr val="4F7CAC"/>
          </a:solidFill>
          <a:ln w="12700">
            <a:solidFill>
              <a:srgbClr val="4F7CA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93838" y="1815998"/>
            <a:ext cx="757123" cy="75712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Tema 3 · Geometría, trigonometría y patrones</dc:title>
  <dc:subject>PptxGenJS Presentation</dc:subject>
  <dc:creator>Club de programación Competitiva - BugSquad</dc:creator>
  <cp:lastModifiedBy>Club de programación Competitiva - BugSquad</cp:lastModifiedBy>
  <cp:revision>1</cp:revision>
  <dcterms:created xsi:type="dcterms:W3CDTF">2026-10-17T02:51:32Z</dcterms:created>
  <dcterms:modified xsi:type="dcterms:W3CDTF">2026-10-17T02:51:32Z</dcterms:modified>
</cp:coreProperties>
</file>