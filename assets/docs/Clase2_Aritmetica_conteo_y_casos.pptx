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apertura: "Tengo 24 caramelos y quiero repartirlos entre 5 niños, sin partir ninguno. ¿Cuántos le toca a cada uno y cuántos sobran?"
Respuesta: 4 cada uno y sobran 4. Eso es la división entera: cociente y residuo. La clase trata de esas ideas y del conteo.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par significa que se puede formar un número exacto de parejas.
Ejemplos para practicar: 14 es par (7 parejas). 9 es impar (4 parejas y sobra 1).
Dato útil: la suma de dos pares es par (14 + 8 = 22), y la suma de dos impares también es par (9 + 5 = 14).
Pregunta: ¿qué pasa con la suma de un par y un impar? Respuesta: es impar.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la idea de sobrantes de una caja. El residuo siempre es menor que el divisor.
Ejemplos para practicar: 29 % 4 = 1, porque 4 · 7 = 28 y sobra 1. 40 % 6 = 4, porque 6 · 6 = 36 y sobran 4.
Pide: calcular 100 % 9. Respuesta: 1, porque 9 · 11 = 99.
Recuerda que el residuo de un número par entre 2 siempre es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 la fórmula con sentido: cuántos múltiplos de m caben hasta N.
Ejemplo para practicar: múltiplos de 4 entre 1 y 50. Cálculo: ⌊50 ÷ 4⌋ = 12. Son 4, 8, … , 48.
Pregunta: ¿cuántos múltiplos de 6 hay entre 1 y 100? Respuesta: 16 (⌊100 ÷ 6⌋).
Advierte que el 0 no se cuenta en este rango.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Repite la idea de bolsas, pero con otro número.
Ejemplo para practicar: 31 cajas de 6 huevos. Se llenan ⌊31 ÷ 6⌋ = 5 cajas completas y sobra 1 huevo (31 % 6 = 1).
Comprobación: 6 · 5 + 1 = 31.
Pide al grupo que escriba la comprobación para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la pregunta clave: ¿sobra algo? Si sobra, hace falta un grupo más.
Ejemplo para practicar: 100 personas en autobuses de 36 asientos. ⌈100 ÷ 36⌉ = (100 + 35) ÷ 36 = 135 ÷ 36 = 3.
Comprobación: 2 autobuses llevan 72, y 3 llevan 108.
Pregunta: ¿cuántas cajas de 10 se necesitan para 91 manzanas? Respuesta: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la diferencia clave: ¿las opciones se excluyen entre sí? Si sí, se suman.
Ejemplo para practicar: para ir a la escuela puedo tomar 4 rutas en camión o 2 rutas en bicicleta. Total: 4 + 2 = 6 formas.
Pregunta de control: si además puedo ir caminando, ¿cuántas formas hay? Respuesta: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las decisiones son independientes y se multiplican.
Ejemplo para practicar: una contraseña con una letra de 4 opciones (A, B, C, D) seguida de dos dígitos. Total: 4 · 10 · 10 = 400.
Pregunta: si la contraseña tiene dos letras de 4 opciones cada una, ¿cuántas hay? Respuesta: 4 · 4 · 10 · 10 = 1600.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 cuándo el orden importa y cuándo no. Aquí importa porque los cargos son distintos.
Ejemplo para practicar: formar un código de 3 cifras distintas usando los dígitos 1 a 5. Total: 5 · 4 · 3 = 60.
Pregunta adicional: si ahora solo elegimos a dos personas para un equipo, sin cargos, ¿el orden importa? Respuesta: no; (Ana, Luis) y (Luis, Ana) son el mismo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por qué la intersección se resta: los múltiplos de 6 se contarían en los dos casos.
Ejemplo para practicar: números del 1 al 20 que son múltiplos de 2 o de 5.
- Múltiplos de 2: 10.
- Múltiplos de 5: 4 (5, 10, 15, 20).
- Ambos (múltiplos de 10): 2 (10 y 20).
Total: 10 + 4 − 2 =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 a seguir un procedimiento literal. Lo que se pide no es adivinar, sino ejecutar paso a paso.
Ejemplo para practicar: el contador empieza en 5. Cada "+" suma 3 y cada "−" resta 2. Cadena: + + −.
Paso 1: 5 + 3 = 8. Paso 2: 8 + 3 = 11. Paso 3: 11 − 2 = 9. Resultado: 9.
Pide al grupo que haga la tabla de seguimiento en su cuaderno.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 los errores más comunes de la semana.
Ejemplo para practicar: 13 ÷ 4 en división entera es 3, con residuo 1. Un error típico es escribir 3.25.
Pide: ¿cuántas cajas de 4 se necesitan para 13 lápices? Respuesta: ⌈13 ÷ 4⌉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 la diferencia entre piso y techo con un ejemplo.
Pregunta de repaso: ⌊19 ÷ 5⌋ = 3 y ⌈19 ÷ 5⌉ = 4. ¿Por qué cambia? Porque 19 no es múltiplo de 5, y sobra 4.
Recuerda la regla: "o" suma, "y" multiplica.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la pregunta: ¿por qué 0 es par? Respuesta: 0 = 2 · 0, así que se pueden formar cero parejas completas y no sobra nada.
Ejemplo adicional: −4 es par, porque −4 % 2 = 0. La paridad no cambia con el signo.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Aritmética, conteo y casos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Bloque 1 · Paridad, divisiones, conteo y simulación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o impar: ¿hay parejas?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se agrupa de dos en dos, el número es par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1168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201168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0" y="201168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56032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256032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2560320"/>
            <a:ext cx="320040" cy="3200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PAR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parejas completas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55448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12080" y="201168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201168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201168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256032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256032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064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IMPAR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parejas y una sobra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Residuo: lo que sobra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5 =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288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5336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1288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03120" y="182880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15768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99816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31720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15768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182880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86200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70248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54296" y="20574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86200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70248" y="2514600"/>
            <a:ext cx="274320" cy="2743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bolsas llenas = 15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303520" y="224028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15000" y="2240280"/>
            <a:ext cx="320040" cy="3200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 2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3886200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= 5 · 3 + 2   →   el residuo es 2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Múltiplos en la recta numérica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verdes son múltiplos de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84048" cy="384048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8872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3736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4592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9456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83464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2194560"/>
            <a:ext cx="384048" cy="384048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9184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3192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8056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3776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57784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2194560"/>
            <a:ext cx="384048" cy="384048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3504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67512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22376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3232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77240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8096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321040" y="2194560"/>
            <a:ext cx="384048" cy="38404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3291840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de m entre 1 y N:   ⌊N ÷ m⌋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entera: repartir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galletas en bolsas de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6464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82880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4560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42032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89504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94560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42032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0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5072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52544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0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05072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37760" y="182880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20640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68112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15584" y="20574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20640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68112" y="2514600"/>
            <a:ext cx="256032" cy="25603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46520" y="182880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9400" y="2194560"/>
            <a:ext cx="256032" cy="256032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76872" y="2194560"/>
            <a:ext cx="256032" cy="256032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24344" y="2194560"/>
            <a:ext cx="256032" cy="256032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bolsas llenas + 3 sueltas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÷ 5 = 4  con residuo 3  →  5 · 4 + 3 = 23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Redondeo hacia arriba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alumnos en mesas de 6: ¿cuántas mesas?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412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3736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2996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2996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3736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2996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3580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3580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3580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74904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4164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4904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4164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4904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4164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5488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4748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4748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5488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4748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7784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76072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5332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6072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5332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6072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5332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8368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66560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059168" y="201168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766560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59168" y="237744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66560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059168" y="2743200"/>
            <a:ext cx="201168" cy="201168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89520" y="1828800"/>
            <a:ext cx="868680" cy="1463040"/>
          </a:xfrm>
          <a:prstGeom prst="roundRect">
            <a:avLst>
              <a:gd name="adj" fmla="val 12632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2011680"/>
            <a:ext cx="201168" cy="201168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065008" y="2011680"/>
            <a:ext cx="201168" cy="201168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72400" y="2377440"/>
            <a:ext cx="201168" cy="201168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065008" y="2377440"/>
            <a:ext cx="201168" cy="201168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772400" y="2743200"/>
            <a:ext cx="201168" cy="201168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mesas llenas + 1 mesa con 5 personas = 8 mesas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⌈a ÷ b⌉ = (a + b − 1) ÷ b   →   (47 + 5) ÷ 6 = 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la suma: "o"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no se mezclan, así que se suman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autobuses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2011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1828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trenes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286000" y="347472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+ 2 = 5 formas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del producto: "y"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se combina con cada opción de las otras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entradas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postres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286000" y="347472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4 · 2 = 24 comidas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con el orden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y secretario de 5 amigos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presidenta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secretario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no puede ocupar dos cargos.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46320" y="1737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presidente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secretaria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otra forma distinta de elegir.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opciones para presidente  ×  4 para secretario  =  20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por casos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del 1 al 30 que son pares o múltiplos de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1645920"/>
            <a:ext cx="3474720" cy="2743200"/>
          </a:xfrm>
          <a:prstGeom prst="ellipse">
            <a:avLst/>
          </a:prstGeom>
          <a:solidFill>
            <a:srgbClr val="4F7CAC">
              <a:alpha val="30000"/>
            </a:srgbClr>
          </a:solidFill>
          <a:ln w="19050">
            <a:solidFill>
              <a:srgbClr val="4F7CA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0" y="1645920"/>
            <a:ext cx="3474720" cy="2743200"/>
          </a:xfrm>
          <a:prstGeom prst="ellipse">
            <a:avLst/>
          </a:prstGeom>
          <a:solidFill>
            <a:srgbClr val="6FA287">
              <a:alpha val="30000"/>
            </a:srgbClr>
          </a:solidFill>
          <a:ln w="19050">
            <a:solidFill>
              <a:srgbClr val="6FA2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468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3: 10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8046720" cy="320040"/>
          </a:xfrm>
          <a:prstGeom prst="roundRect">
            <a:avLst>
              <a:gd name="adj" fmla="val 3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15 + 10 − 5 = 20   (los de ambos se cuentan una sola vez)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Simular con tabla de seguimiento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en 0. Cada A suma 2 y cada B resta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343400"/>
            <a:ext cx="8046720" cy="365760"/>
          </a:xfrm>
          <a:prstGeom prst="roundRect">
            <a:avLst>
              <a:gd name="adj" fmla="val 30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para ABBAB: 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del examen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70261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54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÷ 2 en división entera da 3, no 3.5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2479853"/>
            <a:ext cx="252374" cy="2523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3317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alumnos en mesas de 6 necesitan 8 mesas, no 7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3257093"/>
            <a:ext cx="252374" cy="25237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1089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cuando debía multiplicarse (o al revés)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4034333"/>
            <a:ext cx="252374" cy="25237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3886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restar la intersección en los casos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828800"/>
            <a:ext cx="731520" cy="7315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2026310"/>
            <a:ext cx="336499" cy="3364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 0 al dividir entre 2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587752" y="155448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36392" y="1828800"/>
            <a:ext cx="731520" cy="73152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02" y="202631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70632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770632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Cociente, residuo y techo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26864" y="155448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75504" y="1828800"/>
            <a:ext cx="731520" cy="73152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014" y="202631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09744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809744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"O" suma, "Y" multiplica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665976" y="155448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214616" y="1828800"/>
            <a:ext cx="731520" cy="73152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126" y="202631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48856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848856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no repetir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0 es par?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al dividir 0 entre 2, ¿qué residuo queda?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 · Aritmética, conteo y casos</dc:title>
  <dc:subject>PptxGenJS Presentation</dc:subject>
  <dc:creator>Club de programación Competitiva - BugSquad</dc:creator>
  <cp:lastModifiedBy>Club de programación Competitiva - BugSquad</cp:lastModifiedBy>
  <cp:revision>1</cp:revision>
  <dcterms:created xsi:type="dcterms:W3CDTF">2026-10-17T02:51:32Z</dcterms:created>
  <dcterms:modified xsi:type="dcterms:W3CDTF">2026-10-17T02:51:32Z</dcterms:modified>
</cp:coreProperties>
</file>