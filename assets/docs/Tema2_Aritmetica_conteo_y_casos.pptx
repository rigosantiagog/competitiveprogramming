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E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Aritmética, conteo y casos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260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2 · Bloque 1 · Paridad, división, conteo e inclusión-exclusión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4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949440" y="1371600"/>
            <a:ext cx="1645920" cy="1645920"/>
          </a:xfrm>
          <a:prstGeom prst="ellipse">
            <a:avLst/>
          </a:prstGeom>
          <a:solidFill>
            <a:srgbClr val="4F7CAC"/>
          </a:solidFill>
          <a:ln w="12700">
            <a:solidFill>
              <a:srgbClr val="4F7CA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3838" y="1815998"/>
            <a:ext cx="757123" cy="75712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Modelar con números enteros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Aritmética elemental, conteo ordenado y análisis por casos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1874520" cy="2377440"/>
          </a:xfrm>
          <a:prstGeom prst="roundRect">
            <a:avLst>
              <a:gd name="adj" fmla="val 5854"/>
            </a:avLst>
          </a:prstGeom>
          <a:solidFill>
            <a:srgbClr val="DDE8F3"/>
          </a:solidFill>
          <a:ln w="12700">
            <a:solidFill>
              <a:srgbClr val="DDE8F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828800"/>
            <a:ext cx="548640" cy="548640"/>
          </a:xfrm>
          <a:prstGeom prst="ellipse">
            <a:avLst/>
          </a:prstGeom>
          <a:solidFill>
            <a:srgbClr val="4F7CAC"/>
          </a:solidFill>
          <a:ln w="12700">
            <a:solidFill>
              <a:srgbClr val="4F7CA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9653" y="1976933"/>
            <a:ext cx="252374" cy="25237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31520" y="25146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Paridad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108960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Pares e impares, divisibilidad e invariantes.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606040" y="1645920"/>
            <a:ext cx="1874520" cy="2377440"/>
          </a:xfrm>
          <a:prstGeom prst="roundRect">
            <a:avLst>
              <a:gd name="adj" fmla="val 5854"/>
            </a:avLst>
          </a:prstGeom>
          <a:solidFill>
            <a:srgbClr val="E1F0E7"/>
          </a:solidFill>
          <a:ln w="12700">
            <a:solidFill>
              <a:srgbClr val="E1F0E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788920" y="1828800"/>
            <a:ext cx="548640" cy="548640"/>
          </a:xfrm>
          <a:prstGeom prst="ellipse">
            <a:avLst/>
          </a:prstGeom>
          <a:solidFill>
            <a:srgbClr val="6FA287"/>
          </a:solidFill>
          <a:ln w="12700">
            <a:solidFill>
              <a:srgbClr val="6FA287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7053" y="1976933"/>
            <a:ext cx="252374" cy="25237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788920" y="25146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Aritmética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2788920" y="3108960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División con residuo, piso y techo.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4663440" y="1645920"/>
            <a:ext cx="1874520" cy="2377440"/>
          </a:xfrm>
          <a:prstGeom prst="roundRect">
            <a:avLst>
              <a:gd name="adj" fmla="val 5854"/>
            </a:avLst>
          </a:prstGeom>
          <a:solidFill>
            <a:srgbClr val="FBEADC"/>
          </a:solidFill>
          <a:ln w="12700">
            <a:solidFill>
              <a:srgbClr val="FBEADC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846320" y="1828800"/>
            <a:ext cx="548640" cy="548640"/>
          </a:xfrm>
          <a:prstGeom prst="ellipse">
            <a:avLst/>
          </a:prstGeom>
          <a:solidFill>
            <a:srgbClr val="E39B6B"/>
          </a:solidFill>
          <a:ln w="12700">
            <a:solidFill>
              <a:srgbClr val="E39B6B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4453" y="1976933"/>
            <a:ext cx="252374" cy="25237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846320" y="25146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Conteo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4846320" y="3108960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Suma, producto y fórmulas cerradas.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720840" y="1645920"/>
            <a:ext cx="1874520" cy="2377440"/>
          </a:xfrm>
          <a:prstGeom prst="roundRect">
            <a:avLst>
              <a:gd name="adj" fmla="val 5854"/>
            </a:avLst>
          </a:prstGeom>
          <a:solidFill>
            <a:srgbClr val="ECE8F6"/>
          </a:solidFill>
          <a:ln w="12700">
            <a:solidFill>
              <a:srgbClr val="ECE8F6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903720" y="1828800"/>
            <a:ext cx="548640" cy="548640"/>
          </a:xfrm>
          <a:prstGeom prst="ellipse">
            <a:avLst/>
          </a:prstGeom>
          <a:solidFill>
            <a:srgbClr val="8E7FBF"/>
          </a:solidFill>
          <a:ln w="12700">
            <a:solidFill>
              <a:srgbClr val="8E7FB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1853" y="1976933"/>
            <a:ext cx="252374" cy="25237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903720" y="25146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6903720" y="3108960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Inclusión-exclusión y simulación en papel.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Paridad y divisibilidad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entero es par si se escribe como 2k, e impar si es 2k + 1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657600" cy="1097280"/>
          </a:xfrm>
          <a:prstGeom prst="roundRect">
            <a:avLst>
              <a:gd name="adj" fmla="val 10000"/>
            </a:avLst>
          </a:prstGeom>
          <a:solidFill>
            <a:srgbClr val="E1F0E7"/>
          </a:solidFill>
          <a:ln w="12700">
            <a:solidFill>
              <a:srgbClr val="E1F0E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73736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2k  →  par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754880" y="1737360"/>
            <a:ext cx="3657600" cy="1097280"/>
          </a:xfrm>
          <a:prstGeom prst="roundRect">
            <a:avLst>
              <a:gd name="adj" fmla="val 10000"/>
            </a:avLst>
          </a:prstGeom>
          <a:solidFill>
            <a:srgbClr val="FBEADC"/>
          </a:solidFill>
          <a:ln w="12700">
            <a:solidFill>
              <a:srgbClr val="FBEA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54880" y="173736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2k + 1  →  impar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2004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residuo al dividir entre 2 es 0 en los pares y 1 en los impares.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 divisible entre b si a = b · q, es decir, si el residuo es 0.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Reglas de la paridad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paridad permite predecir un resultado sin calcularlo todo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804672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256032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Operación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 + par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impar + impar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 + impar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producto con al menos un factor par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producto de solo impares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Ejemplo: parejas en un torneo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Equipos de 2 integrantes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840480" cy="2194560"/>
          </a:xfrm>
          <a:prstGeom prst="roundRect">
            <a:avLst>
              <a:gd name="adj" fmla="val 5000"/>
            </a:avLst>
          </a:prstGeom>
          <a:solidFill>
            <a:srgbClr val="E1F0E7"/>
          </a:solidFill>
          <a:ln w="12700">
            <a:solidFill>
              <a:srgbClr val="E1F0E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288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FA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2k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personas tienen pareja. No sobra nadie.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754880" y="1645920"/>
            <a:ext cx="3840480" cy="2194560"/>
          </a:xfrm>
          <a:prstGeom prst="roundRect">
            <a:avLst>
              <a:gd name="adj" fmla="val 5000"/>
            </a:avLst>
          </a:prstGeom>
          <a:solidFill>
            <a:srgbClr val="FBEADC"/>
          </a:solidFill>
          <a:ln w="12700">
            <a:solidFill>
              <a:srgbClr val="FBEAD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18288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39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2k + 1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029200" y="233172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Siempre queda una persona libre. El total era impar.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mismo pasa al ordenar tenis en pares: si sobra uno, el total era impar.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División con residuo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entero a se escribe como a = b · q + r, con 0 ≤ r &lt; b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0" cy="1005840"/>
          </a:xfrm>
          <a:prstGeom prst="roundRect">
            <a:avLst>
              <a:gd name="adj" fmla="val 10909"/>
            </a:avLst>
          </a:prstGeom>
          <a:solidFill>
            <a:srgbClr val="DDE8F3"/>
          </a:solidFill>
          <a:ln w="12700">
            <a:solidFill>
              <a:srgbClr val="DDE8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73736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b · q + r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754880" y="1737360"/>
            <a:ext cx="3840480" cy="1005840"/>
          </a:xfrm>
          <a:prstGeom prst="roundRect">
            <a:avLst>
              <a:gd name="adj" fmla="val 10909"/>
            </a:avLst>
          </a:prstGeom>
          <a:solidFill>
            <a:srgbClr val="E1F0E7"/>
          </a:solidFill>
          <a:ln w="12700">
            <a:solidFill>
              <a:srgbClr val="E1F0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54880" y="173736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= 2 · 23 + 1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10896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Cociente: q = 23 parejas completas. Residuo: r = 1 pasajero sin pareja.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r ≠ 0, el número 47 es impar.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Piso y techo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Funciones para redondear en los enteros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80467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743200"/>
                <a:gridCol w="27432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Piso ⌊x⌋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Techo ⌈x⌉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3/2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−1.5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3749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piso redondea hacia −∞; el techo redondea hacia +∞.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Calcular el techo sin decimales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14 conchas en cajas de capacidad 4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371600" y="1645920"/>
            <a:ext cx="6400800" cy="914400"/>
          </a:xfrm>
          <a:prstGeom prst="roundRect">
            <a:avLst>
              <a:gd name="adj" fmla="val 12000"/>
            </a:avLst>
          </a:prstGeom>
          <a:solidFill>
            <a:srgbClr val="DDE8F3"/>
          </a:solidFill>
          <a:ln w="12700">
            <a:solidFill>
              <a:srgbClr val="DDE8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71600" y="164592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⌈a/b⌉ = ⌊(a + b − 1)/b⌋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834640"/>
            <a:ext cx="8046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Cajas llenas: ⌊14/4⌋ = 3.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Conchas sueltas: 14 mod 4 = 2.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Cajas totales: ⌊(14 + 4 − 1)/4⌋ = ⌊17/4⌋ = 4.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Contar: suma o producto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 para opciones excluyentes; producto para etapas seguidas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840480" cy="2286000"/>
          </a:xfrm>
          <a:prstGeom prst="roundRect">
            <a:avLst>
              <a:gd name="adj" fmla="val 4800"/>
            </a:avLst>
          </a:prstGeom>
          <a:solidFill>
            <a:srgbClr val="DDE8F3"/>
          </a:solidFill>
          <a:ln w="12700">
            <a:solidFill>
              <a:srgbClr val="DDE8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288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F7C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de la suma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 de camión: 3 opciones. Ruta de Metro: 2 opciones.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3 + 2 = 5 alternativas.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754880" y="1645920"/>
            <a:ext cx="3840480" cy="2286000"/>
          </a:xfrm>
          <a:prstGeom prst="roundRect">
            <a:avLst>
              <a:gd name="adj" fmla="val 4800"/>
            </a:avLst>
          </a:prstGeom>
          <a:solidFill>
            <a:srgbClr val="E1F0E7"/>
          </a:solidFill>
          <a:ln w="12700">
            <a:solidFill>
              <a:srgbClr val="E1F0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18288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FA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del producto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029200" y="233172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playeras y 3 pantalones.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Combinaciones: 4 · 3 = 12.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206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Cardinal: cuántos elementos hay. Ordinal: qué lugar ocupa uno de ellos.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Fórmulas de suma cerradas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Sumar sin enumerar uno por uno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804672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347472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Fórmula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+ 2 + … + 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n(n + 1) / 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Progresión aritmética (a + b, n términos)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n(a + b) / 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+ 2 + 4 + … + 2^(n−1)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2^n − 1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38404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1 + 2 + … + 100 = 100 · 101 / 2 = 5050.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Casos e inclusión-exclusión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Restar la parte compartida evita contarla dos veces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914400" y="1645920"/>
            <a:ext cx="7315200" cy="914400"/>
          </a:xfrm>
          <a:prstGeom prst="roundRect">
            <a:avLst>
              <a:gd name="adj" fmla="val 12000"/>
            </a:avLst>
          </a:prstGeom>
          <a:solidFill>
            <a:srgbClr val="DDE8F3"/>
          </a:solidFill>
          <a:ln w="12700">
            <a:solidFill>
              <a:srgbClr val="DDE8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645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|A ∪ B| = |A| + |B| − |A ∩ B|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834640"/>
            <a:ext cx="8046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Encuesta a 50 estudiantes: Música 22, Robótica 19 y ambos talleres 8.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menos un taller: 22 + 19 − 8 = 33.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Ninguno: 50 − 33 = 17.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Simulación paso a paso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 inicial 30; viajes de 5 o 6; recarga de 50 si el saldo baja de 20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1280160"/>
                <a:gridCol w="2011680"/>
                <a:gridCol w="146304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 previo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Cambio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 tras el evento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Recarga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· Inicio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Metro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Metrobús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Sí: +50 → 69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Metrobús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· Metro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4297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 final: 58 pesos. Sin la tabla es fácil olvidar revisar la recarga.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Aritmética modular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 circular: el residuo dentro de un ciclo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914400" y="1737360"/>
            <a:ext cx="7132320" cy="1005840"/>
          </a:xfrm>
          <a:prstGeom prst="roundRect">
            <a:avLst>
              <a:gd name="adj" fmla="val 10909"/>
            </a:avLst>
          </a:prstGeom>
          <a:solidFill>
            <a:srgbClr val="DDE8F3"/>
          </a:solidFill>
          <a:ln w="12700">
            <a:solidFill>
              <a:srgbClr val="DDE8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737360"/>
            <a:ext cx="7132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q · m + r,  con  0 ≤ r &lt; m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01752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 m es el residuo al dividir a entre m &gt; 0.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residuo siempre está entre 0 y m − 1.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Así los resultados no crecen sin control.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Congruencias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números son congruentes cuando dejan el mismo residuo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645920" y="1737360"/>
            <a:ext cx="5852160" cy="1005840"/>
          </a:xfrm>
          <a:prstGeom prst="roundRect">
            <a:avLst>
              <a:gd name="adj" fmla="val 10909"/>
            </a:avLst>
          </a:prstGeom>
          <a:solidFill>
            <a:srgbClr val="E1F0E7"/>
          </a:solidFill>
          <a:ln w="12700">
            <a:solidFill>
              <a:srgbClr val="E1F0E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645920" y="173736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≡ b (mod m)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01752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 que a mod m = b mod m.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Equivale a decir que a − b es múltiplo exacto de m.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17 ≡ 5 (mod 6), porque 17 − 5 = 12 es múltiplo de 6.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Propiedades de la suma, resta y producto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Puedes reducir antes de operar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21792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Operación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reducción previa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(a + b) mod m = ((a mod m) + (b mod m)) mod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(a − b) mod m = ((a mod m) − (b mod m)) mod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(a · b) mod m = ((a mod m) · (b mod m)) mod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37490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Reducir antes de operar da el mismo residuo final y evita números grandes.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Comprobación con módulo 5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caminos, el mismo residuo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840480" cy="2286000"/>
          </a:xfrm>
          <a:prstGeom prst="roundRect">
            <a:avLst>
              <a:gd name="adj" fmla="val 4800"/>
            </a:avLst>
          </a:prstGeom>
          <a:solidFill>
            <a:srgbClr val="DDE8F3"/>
          </a:solidFill>
          <a:ln w="12700">
            <a:solidFill>
              <a:srgbClr val="DDE8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288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F7C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(14 + 9) mod 5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Directo: 23 mod 5 = 3.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reducción: 4 + 4 = 8, y 8 mod 5 = 3.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754880" y="1645920"/>
            <a:ext cx="3840480" cy="2286000"/>
          </a:xfrm>
          <a:prstGeom prst="roundRect">
            <a:avLst>
              <a:gd name="adj" fmla="val 4800"/>
            </a:avLst>
          </a:prstGeom>
          <a:solidFill>
            <a:srgbClr val="E1F0E7"/>
          </a:solidFill>
          <a:ln w="12700">
            <a:solidFill>
              <a:srgbClr val="E1F0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18288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FA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(14 · 9) mod 5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029200" y="233172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Directo: 126 mod 5 = 1.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reducción: 4 · 4 = 16, y 16 mod 5 = 1.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206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dos caminos dan el mismo residuo.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Aplicaciones cotidianas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Ciclos que regresan al punto de partida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1874520" cy="2377440"/>
          </a:xfrm>
          <a:prstGeom prst="roundRect">
            <a:avLst>
              <a:gd name="adj" fmla="val 5854"/>
            </a:avLst>
          </a:prstGeom>
          <a:solidFill>
            <a:srgbClr val="DDE8F3"/>
          </a:solidFill>
          <a:ln w="12700">
            <a:solidFill>
              <a:srgbClr val="DDE8F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828800"/>
            <a:ext cx="548640" cy="548640"/>
          </a:xfrm>
          <a:prstGeom prst="ellipse">
            <a:avLst/>
          </a:prstGeom>
          <a:solidFill>
            <a:srgbClr val="4F7CAC"/>
          </a:solidFill>
          <a:ln w="12700">
            <a:solidFill>
              <a:srgbClr val="4F7CA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9653" y="1976933"/>
            <a:ext cx="252374" cy="25237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31520" y="25146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Reloj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108960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(9 + 5) mod 12 = 2. Son las 2.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606040" y="1645920"/>
            <a:ext cx="1874520" cy="2377440"/>
          </a:xfrm>
          <a:prstGeom prst="roundRect">
            <a:avLst>
              <a:gd name="adj" fmla="val 5854"/>
            </a:avLst>
          </a:prstGeom>
          <a:solidFill>
            <a:srgbClr val="E1F0E7"/>
          </a:solidFill>
          <a:ln w="12700">
            <a:solidFill>
              <a:srgbClr val="E1F0E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788920" y="1828800"/>
            <a:ext cx="548640" cy="548640"/>
          </a:xfrm>
          <a:prstGeom prst="ellipse">
            <a:avLst/>
          </a:prstGeom>
          <a:solidFill>
            <a:srgbClr val="6FA287"/>
          </a:solidFill>
          <a:ln w="12700">
            <a:solidFill>
              <a:srgbClr val="6FA287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7053" y="1976933"/>
            <a:ext cx="252374" cy="25237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788920" y="25146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2788920" y="3108960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mod 7 = 2 días después del día actual.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4663440" y="1645920"/>
            <a:ext cx="1874520" cy="2377440"/>
          </a:xfrm>
          <a:prstGeom prst="roundRect">
            <a:avLst>
              <a:gd name="adj" fmla="val 5854"/>
            </a:avLst>
          </a:prstGeom>
          <a:solidFill>
            <a:srgbClr val="FBEADC"/>
          </a:solidFill>
          <a:ln w="12700">
            <a:solidFill>
              <a:srgbClr val="FBEADC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846320" y="1828800"/>
            <a:ext cx="548640" cy="548640"/>
          </a:xfrm>
          <a:prstGeom prst="ellipse">
            <a:avLst/>
          </a:prstGeom>
          <a:solidFill>
            <a:srgbClr val="E39B6B"/>
          </a:solidFill>
          <a:ln w="12700">
            <a:solidFill>
              <a:srgbClr val="E39B6B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4453" y="1976933"/>
            <a:ext cx="252374" cy="25237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846320" y="25146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Potencias de 2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4846320" y="3108960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5: 2, 4, 3, 1 y se repite.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720840" y="1645920"/>
            <a:ext cx="1874520" cy="2377440"/>
          </a:xfrm>
          <a:prstGeom prst="roundRect">
            <a:avLst>
              <a:gd name="adj" fmla="val 5854"/>
            </a:avLst>
          </a:prstGeom>
          <a:solidFill>
            <a:srgbClr val="ECE8F6"/>
          </a:solidFill>
          <a:ln w="12700">
            <a:solidFill>
              <a:srgbClr val="ECE8F6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903720" y="1828800"/>
            <a:ext cx="548640" cy="548640"/>
          </a:xfrm>
          <a:prstGeom prst="ellipse">
            <a:avLst/>
          </a:prstGeom>
          <a:solidFill>
            <a:srgbClr val="8E7FBF"/>
          </a:solidFill>
          <a:ln w="12700">
            <a:solidFill>
              <a:srgbClr val="8E7FB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1853" y="1976933"/>
            <a:ext cx="252374" cy="25237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903720" y="25146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Última cifra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6903720" y="3108960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358 mod 10 = 8.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Errores frecuentes: aritmética modular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Revísalos antes de la tarea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8046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 m devuelve el residuo, no el cociente ni un decimal.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residuo nunca es igual o mayor que m.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división no se aplica a las congruencias como si fuera una ecuación.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Divisibilidad y primos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Ampliación del subtema 5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0" cy="1005840"/>
          </a:xfrm>
          <a:prstGeom prst="roundRect">
            <a:avLst>
              <a:gd name="adj" fmla="val 10909"/>
            </a:avLst>
          </a:prstGeom>
          <a:solidFill>
            <a:srgbClr val="DDE8F3"/>
          </a:solidFill>
          <a:ln w="12700">
            <a:solidFill>
              <a:srgbClr val="DDE8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73736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| b  si  b = k · a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754880" y="1737360"/>
            <a:ext cx="3840480" cy="1005840"/>
          </a:xfrm>
          <a:prstGeom prst="roundRect">
            <a:avLst>
              <a:gd name="adj" fmla="val 10909"/>
            </a:avLst>
          </a:prstGeom>
          <a:solidFill>
            <a:srgbClr val="E1F0E7"/>
          </a:solidFill>
          <a:ln w="12700">
            <a:solidFill>
              <a:srgbClr val="E1F0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54880" y="173736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 = 2³ · 3² · 5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01752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4 | 12, porque 12 = 3 · 4.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primo solo tiene dos divisores positivos: 1 y él mismo.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factorizar, divide entre primos en orden (2, 3, 5, 7…) hasta llegar a 1.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Máximo común divisor (mcd)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Primos comunes con su menor exponente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914400" y="1645920"/>
            <a:ext cx="7315200" cy="914400"/>
          </a:xfrm>
          <a:prstGeom prst="roundRect">
            <a:avLst>
              <a:gd name="adj" fmla="val 12000"/>
            </a:avLst>
          </a:prstGeom>
          <a:solidFill>
            <a:srgbClr val="DDE8F3"/>
          </a:solidFill>
          <a:ln w="12700">
            <a:solidFill>
              <a:srgbClr val="DDE8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645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mcd(360, 300) = 2² · 3 · 5 = 60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834640"/>
            <a:ext cx="8046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 = 2³ · 3² · 5 y 300 = 2² · 3 · 5².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 de Euclides: mcd(a, b) = mcd(b, a mod b).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repite hasta que el residuo sea cero; el último residuo distinto de cero es el mcd.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Mínimo común múltiplo (mcm)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primos con su mayor exponente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914400" y="1645920"/>
            <a:ext cx="7315200" cy="914400"/>
          </a:xfrm>
          <a:prstGeom prst="roundRect">
            <a:avLst>
              <a:gd name="adj" fmla="val 12000"/>
            </a:avLst>
          </a:prstGeom>
          <a:solidFill>
            <a:srgbClr val="E1F0E7"/>
          </a:solidFill>
          <a:ln w="12700">
            <a:solidFill>
              <a:srgbClr val="E1F0E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645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mcm(360, 300) = 2³ · 3² · 5² = 1800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834640"/>
            <a:ext cx="8046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dos números: mcd(a, b) · mcm(a, b) = a · b.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eso: mcm(a, b) = a · b / mcd(a, b).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relación solo vale para dos números.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Mcd o mcm: ¿cuál usar?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Palabras clave en el problema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840480" cy="2468880"/>
          </a:xfrm>
          <a:prstGeom prst="roundRect">
            <a:avLst>
              <a:gd name="adj" fmla="val 4444"/>
            </a:avLst>
          </a:prstGeom>
          <a:solidFill>
            <a:srgbClr val="DDE8F3"/>
          </a:solidFill>
          <a:ln w="12700">
            <a:solidFill>
              <a:srgbClr val="DDE8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288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F7C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mcd: repartir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Palabras clave: máximo, partes iguales, sin que sobre nada.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tramos de madera del mayor largo posible.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754880" y="1645920"/>
            <a:ext cx="3840480" cy="2468880"/>
          </a:xfrm>
          <a:prstGeom prst="roundRect">
            <a:avLst>
              <a:gd name="adj" fmla="val 4444"/>
            </a:avLst>
          </a:prstGeom>
          <a:solidFill>
            <a:srgbClr val="E1F0E7"/>
          </a:solidFill>
          <a:ln w="12700">
            <a:solidFill>
              <a:srgbClr val="E1F0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18288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FA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mcm: coincidir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029200" y="2331720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Palabras clave: coincidir, mínimo tiempo, simultáneamente.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semáforos cada 12 y 18 s coinciden cada 36 s.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Errores frecuentes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Revísalos antes del examen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8046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la división real para contar paquetes completos: usa el piso ⌊a/b⌋.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Contar mal los elementos de [a, b]: son b − a + 1.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Olvidar restar la intersección en inclusión-exclusión.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Confundir el cardinal (total) con el ordinal (posición).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el piso con negativos: ⌊−3.2⌋ = −4, no −3.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Resumen de la clase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Paridad, aritmética entera, conteo y casos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80467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291840"/>
                <a:gridCol w="256032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Fórmula o regla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Aplicación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7CA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Paridad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Par: 2k; impar: 2k + 1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Predecir resultados sin simular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Aritmética entera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= b · q + r, con 0 ≤ r &lt;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Empaquetar sin decimales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Suma y producto; n(n + 1)/2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Contar sin enumerar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|A ∪ B| = |A| + |B| − |A ∩ B|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Evitar el sobreconteo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Aritmética modular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≡ b (mod m) con mismo residuo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Ciclos y residuos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Mcd y mcm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mcd(a, b) · mcm(a, b) = a ·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F3E4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Repartir o coincidir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5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3E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practicar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Pestañas Practicar y Quiz del sitio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7548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programación Competitiva - BugSquad 2026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8046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Ejercicios guiados: del 1 al 5 y del 12 al 15.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Ejercicios independientes: del 6 al 11 y del 16 al 19.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Quiz: 12 preguntas. Se aprueba con 6 o más aciertos.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F3E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 del bloque: 20 ejercicios, con los temas nuevos al final.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Tema 2 · Aritmética, conteo y casos</dc:title>
  <dc:subject>PptxGenJS Presentation</dc:subject>
  <dc:creator>Club de programación Competitiva - BugSquad</dc:creator>
  <cp:lastModifiedBy>Club de programación Competitiva - BugSquad</cp:lastModifiedBy>
  <cp:revision>1</cp:revision>
  <dcterms:created xsi:type="dcterms:W3CDTF">2026-10-22T17:21:38Z</dcterms:created>
  <dcterms:modified xsi:type="dcterms:W3CDTF">2026-10-22T17:21:38Z</dcterms:modified>
</cp:coreProperties>
</file>