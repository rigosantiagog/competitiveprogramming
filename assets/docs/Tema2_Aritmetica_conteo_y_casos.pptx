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Aritmética, conteo y casos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260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2 · Bloque 1 · Paridad, división, conteo e inclusión-exclusión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0" y="1371600"/>
            <a:ext cx="1645920" cy="1645920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3838" y="1815998"/>
            <a:ext cx="757123" cy="7571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Modelar con números enteros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Aritmética elemental, conteo ordenado y análisis por casos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548640" cy="548640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53" y="1976933"/>
            <a:ext cx="252374" cy="25237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514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Paridad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1089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 e impares, divisibilidad e invariantes.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606040" y="164592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88920" y="1828800"/>
            <a:ext cx="548640" cy="548640"/>
          </a:xfrm>
          <a:prstGeom prst="ellipse">
            <a:avLst/>
          </a:prstGeom>
          <a:solidFill>
            <a:srgbClr val="6FA287"/>
          </a:solidFill>
          <a:ln w="12700">
            <a:solidFill>
              <a:srgbClr val="6FA28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053" y="1976933"/>
            <a:ext cx="252374" cy="2523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788920" y="2514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Aritmética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788920" y="31089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División con residuo, piso y techo.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663440" y="164592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FBEADC"/>
          </a:solidFill>
          <a:ln w="12700">
            <a:solidFill>
              <a:srgbClr val="FBEAD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46320" y="1828800"/>
            <a:ext cx="548640" cy="548640"/>
          </a:xfrm>
          <a:prstGeom prst="ellipse">
            <a:avLst/>
          </a:prstGeom>
          <a:solidFill>
            <a:srgbClr val="E39B6B"/>
          </a:solidFill>
          <a:ln w="12700">
            <a:solidFill>
              <a:srgbClr val="E39B6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453" y="1976933"/>
            <a:ext cx="252374" cy="25237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46320" y="2514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846320" y="31089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Suma, producto y fórmulas cerradas.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720840" y="164592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ECE8F6"/>
          </a:solidFill>
          <a:ln w="12700">
            <a:solidFill>
              <a:srgbClr val="ECE8F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903720" y="1828800"/>
            <a:ext cx="548640" cy="548640"/>
          </a:xfrm>
          <a:prstGeom prst="ellipse">
            <a:avLst/>
          </a:prstGeom>
          <a:solidFill>
            <a:srgbClr val="8E7FBF"/>
          </a:solidFill>
          <a:ln w="12700">
            <a:solidFill>
              <a:srgbClr val="8E7FB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1853" y="1976933"/>
            <a:ext cx="252374" cy="25237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903720" y="2514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6903720" y="31089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Inclusión-exclusión y simulación en papel.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Paridad y divisibilidad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entero es par si se escribe como 2k, e impar si es 2k + 1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57600" cy="1097280"/>
          </a:xfrm>
          <a:prstGeom prst="roundRect">
            <a:avLst>
              <a:gd name="adj" fmla="val 10000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2k  →  par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754880" y="1737360"/>
            <a:ext cx="3657600" cy="1097280"/>
          </a:xfrm>
          <a:prstGeom prst="roundRect">
            <a:avLst>
              <a:gd name="adj" fmla="val 10000"/>
            </a:avLst>
          </a:prstGeom>
          <a:solidFill>
            <a:srgbClr val="FBEADC"/>
          </a:solidFill>
          <a:ln w="12700">
            <a:solidFill>
              <a:srgbClr val="FBEA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0" y="17373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2k + 1  →  impar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004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residuo al dividir entre 2 es 0 en los pares y 1 en los impares.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 divisible entre b si a = b · q, es decir, si el residuo es 0.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de la paridad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paridad permite predecir un resultado sin calcularlo todo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04672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25603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Operación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 + par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impar + impar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 + impar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 con al menos un factor par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 de solo impares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Ejemplo: parejas en un torneo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de 2 integrantes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840480" cy="2194560"/>
          </a:xfrm>
          <a:prstGeom prst="roundRect">
            <a:avLst>
              <a:gd name="adj" fmla="val 5000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2k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personas tienen pareja. No sobra nadie.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840480" cy="2194560"/>
          </a:xfrm>
          <a:prstGeom prst="roundRect">
            <a:avLst>
              <a:gd name="adj" fmla="val 5000"/>
            </a:avLst>
          </a:prstGeom>
          <a:solidFill>
            <a:srgbClr val="FBEADC"/>
          </a:solidFill>
          <a:ln w="12700">
            <a:solidFill>
              <a:srgbClr val="FBEA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39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2k + 1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3317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queda una persona libre. El total era impar.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mismo pasa al ordenar tenis en pares: si sobra uno, el total era impar.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División con residuo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entero a se escribe como a = b · q + r, con 0 ≤ r &lt; b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0" cy="1005840"/>
          </a:xfrm>
          <a:prstGeom prst="roundRect">
            <a:avLst>
              <a:gd name="adj" fmla="val 10909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b · q + 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754880" y="1737360"/>
            <a:ext cx="3840480" cy="1005840"/>
          </a:xfrm>
          <a:prstGeom prst="roundRect">
            <a:avLst>
              <a:gd name="adj" fmla="val 10909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0" y="17373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= 2 · 23 + 1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1089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Cociente: q = 23 parejas completas. Residuo: r = 1 pasajero sin pareja.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 ≠ 0, el número 47 es impar.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Piso y techo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para redondear en los enteros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Piso ⌊x⌋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Techo ⌈x⌉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piso redondea hacia −∞; el techo redondea hacia +∞.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Calcular el techo sin decimales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14 conchas en cajas de capacidad 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71600" y="16459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71600" y="16459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⌈a/b⌉ = ⌊(a + b − 1)/b⌋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Cajas llenas: ⌊14/4⌋ = 3.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Conchas sueltas: 14 mod 4 = 2.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Cajas totales: ⌊(14 + 4 − 1)/4⌋ = ⌊17/4⌋ = 4.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Contar: suma o producto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para opciones excluyentes; producto para etapas seguidas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840480" cy="2286000"/>
          </a:xfrm>
          <a:prstGeom prst="roundRect">
            <a:avLst>
              <a:gd name="adj" fmla="val 4800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F7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la suma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de camión: 3 opciones. Ruta de Metro: 2 opciones.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3 + 2 = 5 alternativas.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840480" cy="2286000"/>
          </a:xfrm>
          <a:prstGeom prst="roundRect">
            <a:avLst>
              <a:gd name="adj" fmla="val 4800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del producto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3317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playeras y 3 pantalones.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Combinaciones: 4 · 3 = 12.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Cardinal: cuántos elementos hay. Ordinal: qué lugar ocupa uno de ellos.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Fórmulas de suma cerradas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 sin enumerar uno por uno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04672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4747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+ 2 + … + 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n(n + 1) / 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Progresión aritmética (a + b, n términos)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n(a + b) / 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+ 2 + 4 + … + 2^(n−1)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2^n − 1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1 + 2 + … + 100 = 100 · 101 / 2 = 5050.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e inclusión-exclusión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 la parte compartida evita contarla dos veces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7315200" cy="914400"/>
          </a:xfrm>
          <a:prstGeom prst="roundRect">
            <a:avLst>
              <a:gd name="adj" fmla="val 12000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|A ∪ B| = |A| + |B| − |A ∩ B|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a 50 estudiantes: Música 22, Robótica 19 y ambos talleres 8.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un taller: 22 + 19 − 8 = 33.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Ninguno: 50 − 33 = 17.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Simulación paso a paso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inicial 30; viajes de 5 o 6; recarga de 50 si el saldo baja de 20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1280160"/>
                <a:gridCol w="201168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previo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tras el evento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Recarga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Inicio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Metro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Metrobús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Sí: +50 → 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Metrobús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Metro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final: 58 pesos. Sin la tabla es fácil olvidar revisar la recarga.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frecuentes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Revísalos antes del examen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la división real para contar paquetes completos: usa el piso ⌊a/b⌋.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mal los elementos de [a, b]: son b − a + 1.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restar la intersección en inclusión-exclusión.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el cardinal (total) con el ordinal (posición).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el piso con negativos: ⌊−3.2⌋ = −4, no −3.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clase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Paridad, aritmética entera, conteo y casos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25603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 o regla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Paridad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Par: 2k; impar: 2k + 1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Predecir resultados sin simular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Aritmética entera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b · q + r, con 0 ≤ r &lt; 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Empaquetar sin decimales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Suma y producto; n(n + 1)/2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Contar sin enumerar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|A ∪ B| = |A| + |B| − |A ∩ B|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Evitar el sobreconteo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practicar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Pestañas Practicar y Quiz del sitio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guiados: del 1 al 5, con procedimiento.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independientes: del 6 al 11.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Quiz: 8 preguntas. Se aprueba con 6 o más aciertos.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del bloque: 15 ejercicios; los ejercicios 6 a 10 son de este tema.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2 · Aritmética, conteo y casos</dc:title>
  <dc:subject>PptxGenJS Presentation</dc:subject>
  <dc:creator>Club de programación Competitiva - BugSquad</dc:creator>
  <cp:lastModifiedBy>Club de programación Competitiva - BugSquad</cp:lastModifiedBy>
  <cp:revision>1</cp:revision>
  <dcterms:created xsi:type="dcterms:W3CDTF">2026-10-19T14:15:00Z</dcterms:created>
  <dcterms:modified xsi:type="dcterms:W3CDTF">2026-10-19T14:15:00Z</dcterms:modified>
</cp:coreProperties>
</file>